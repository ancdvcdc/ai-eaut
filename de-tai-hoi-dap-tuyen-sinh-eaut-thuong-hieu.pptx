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cb185761f5405c" /><Relationship Type="http://schemas.openxmlformats.org/officeDocument/2006/relationships/extended-properties" Target="/docProps/app.xml" Id="R2b2a89192dde4994" /><Relationship Type="http://schemas.openxmlformats.org/officeDocument/2006/relationships/officeDocument" Target="/ppt/presentation.xml" Id="Ra95f66eab758478d" /></Relationships>
</file>

<file path=ppt/presentation.xml><?xml version="1.0" encoding="utf-8"?>
<p:presentation xmlns:p="http://schemas.openxmlformats.org/presentationml/2006/main">
  <p:sldMasterIdLst>
    <p:sldMasterId xmlns:r="http://schemas.openxmlformats.org/officeDocument/2006/relationships" id="2147483648" r:id="R206c818d6826479d"/>
  </p:sldMasterIdLst>
  <p:notesMasterIdLst>
    <p:notesMasterId xmlns:r="http://schemas.openxmlformats.org/officeDocument/2006/relationships" r:id="R36d8ff9cf0654af9"/>
  </p:notesMasterIdLst>
  <p:sldIdLst>
    <p:sldId xmlns:r="http://schemas.openxmlformats.org/officeDocument/2006/relationships" id="256" r:id="R403b0fa223c044de"/>
    <p:sldId xmlns:r="http://schemas.openxmlformats.org/officeDocument/2006/relationships" id="257" r:id="Ra4aa031e2abb47c2"/>
    <p:sldId xmlns:r="http://schemas.openxmlformats.org/officeDocument/2006/relationships" id="258" r:id="R891589694c104ac9"/>
    <p:sldId xmlns:r="http://schemas.openxmlformats.org/officeDocument/2006/relationships" id="259" r:id="R72e207c711d74442"/>
    <p:sldId xmlns:r="http://schemas.openxmlformats.org/officeDocument/2006/relationships" id="260" r:id="R2d7d8e882fec4ba8"/>
    <p:sldId xmlns:r="http://schemas.openxmlformats.org/officeDocument/2006/relationships" id="261" r:id="Rcf3faa43ac054fc1"/>
    <p:sldId xmlns:r="http://schemas.openxmlformats.org/officeDocument/2006/relationships" id="262" r:id="R6016a281328d4860"/>
    <p:sldId xmlns:r="http://schemas.openxmlformats.org/officeDocument/2006/relationships" id="263" r:id="R1015b9d826d449e0"/>
    <p:sldId xmlns:r="http://schemas.openxmlformats.org/officeDocument/2006/relationships" id="264" r:id="Rd1c81883a09147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65b5f3b2a94803" /><Relationship Type="http://schemas.openxmlformats.org/officeDocument/2006/relationships/slideMaster" Target="/ppt/slideMasters/slideMaster1.xml" Id="R206c818d6826479d" /><Relationship Type="http://schemas.openxmlformats.org/officeDocument/2006/relationships/notesMaster" Target="/ppt/notesMasters/notesMaster1.xml" Id="R36d8ff9cf0654af9" /><Relationship Type="http://schemas.openxmlformats.org/officeDocument/2006/relationships/presProps" Target="/ppt/presProps.xml" Id="R5b2a40d3ea444dad" /><Relationship Type="http://schemas.openxmlformats.org/officeDocument/2006/relationships/tableStyles" Target="/ppt/tableStyles.xml" Id="R1484b71eabab48e1" /><Relationship Type="http://schemas.openxmlformats.org/officeDocument/2006/relationships/slide" Target="/ppt/slides/slide1.xml" Id="R403b0fa223c044de" /><Relationship Type="http://schemas.openxmlformats.org/officeDocument/2006/relationships/slide" Target="/ppt/slides/slide2.xml" Id="Ra4aa031e2abb47c2" /><Relationship Type="http://schemas.openxmlformats.org/officeDocument/2006/relationships/slide" Target="/ppt/slides/slide3.xml" Id="R891589694c104ac9" /><Relationship Type="http://schemas.openxmlformats.org/officeDocument/2006/relationships/slide" Target="/ppt/slides/slide4.xml" Id="R72e207c711d74442" /><Relationship Type="http://schemas.openxmlformats.org/officeDocument/2006/relationships/slide" Target="/ppt/slides/slide5.xml" Id="R2d7d8e882fec4ba8" /><Relationship Type="http://schemas.openxmlformats.org/officeDocument/2006/relationships/slide" Target="/ppt/slides/slide6.xml" Id="Rcf3faa43ac054fc1" /><Relationship Type="http://schemas.openxmlformats.org/officeDocument/2006/relationships/slide" Target="/ppt/slides/slide7.xml" Id="R6016a281328d4860" /><Relationship Type="http://schemas.openxmlformats.org/officeDocument/2006/relationships/slide" Target="/ppt/slides/slide8.xml" Id="R1015b9d826d449e0" /><Relationship Type="http://schemas.openxmlformats.org/officeDocument/2006/relationships/slide" Target="/ppt/slides/slide9.xml" Id="Rd1c81883a09147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4a04995a7643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d81738edde4d16" /><Relationship Type="http://schemas.openxmlformats.org/officeDocument/2006/relationships/notesMaster" Target="/ppt/notesMasters/notesMaster1.xml" Id="Rf03cddfa86b042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a0b8e73b234844" /><Relationship Type="http://schemas.openxmlformats.org/officeDocument/2006/relationships/notesMaster" Target="/ppt/notesMasters/notesMaster1.xml" Id="Re35fccd352094f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db89c902924bc3" /><Relationship Type="http://schemas.openxmlformats.org/officeDocument/2006/relationships/notesMaster" Target="/ppt/notesMasters/notesMaster1.xml" Id="Rff82b33141984f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d94cbed26a4e35" /><Relationship Type="http://schemas.openxmlformats.org/officeDocument/2006/relationships/notesMaster" Target="/ppt/notesMasters/notesMaster1.xml" Id="R9c45fc8c1ef542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625e958dbb42a8" /><Relationship Type="http://schemas.openxmlformats.org/officeDocument/2006/relationships/notesMaster" Target="/ppt/notesMasters/notesMaster1.xml" Id="R6aa73800174045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66bda6f00b4e68" /><Relationship Type="http://schemas.openxmlformats.org/officeDocument/2006/relationships/notesMaster" Target="/ppt/notesMasters/notesMaster1.xml" Id="R9d4efb5a174147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65b4af80884f1b" /><Relationship Type="http://schemas.openxmlformats.org/officeDocument/2006/relationships/notesMaster" Target="/ppt/notesMasters/notesMaster1.xml" Id="R3b6cbc2c72234d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905549e5df45fc" /><Relationship Type="http://schemas.openxmlformats.org/officeDocument/2006/relationships/notesMaster" Target="/ppt/notesMasters/notesMaster1.xml" Id="Rf9473eb8776742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1243fa6954492e" /><Relationship Type="http://schemas.openxmlformats.org/officeDocument/2006/relationships/notesMaster" Target="/ppt/notesMasters/notesMaster1.xml" Id="R3e40e832d6c94c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1b5aadfad94b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204b2c64904911" /><Relationship Type="http://schemas.openxmlformats.org/officeDocument/2006/relationships/slideLayout" Target="/ppt/slideLayouts/slideLayout1.xml" Id="R96c61f2473194d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c61f2473194d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cb0216bbac4c1e" /><Relationship Type="http://schemas.openxmlformats.org/officeDocument/2006/relationships/image" Target="/ppt/media/image.png" Id="R102d718b4e2d42f1" /><Relationship Type="http://schemas.openxmlformats.org/officeDocument/2006/relationships/image" Target="/ppt/media/image2.png" Id="R4ba7aa6f12004080" /><Relationship Type="http://schemas.openxmlformats.org/officeDocument/2006/relationships/notesSlide" Target="/ppt/notesSlides/notesSlide1.xml" Id="Re8c55f1792084f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50fe5b1cf854aff" /><Relationship Type="http://schemas.openxmlformats.org/officeDocument/2006/relationships/image" Target="/ppt/media/image3.png" Id="R2191e61293b4416c" /><Relationship Type="http://schemas.openxmlformats.org/officeDocument/2006/relationships/notesSlide" Target="/ppt/notesSlides/notesSlide2.xml" Id="R7ebfda59a9be4b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8d4aba2f57c4f22" /><Relationship Type="http://schemas.openxmlformats.org/officeDocument/2006/relationships/image" Target="/ppt/media/image4.png" Id="Rb529b629502d4b35" /><Relationship Type="http://schemas.openxmlformats.org/officeDocument/2006/relationships/notesSlide" Target="/ppt/notesSlides/notesSlide3.xml" Id="Rac50290da1554c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ed624b5046f4602" /><Relationship Type="http://schemas.openxmlformats.org/officeDocument/2006/relationships/image" Target="/ppt/media/image5.png" Id="R01af7d0b708c4845" /><Relationship Type="http://schemas.openxmlformats.org/officeDocument/2006/relationships/notesSlide" Target="/ppt/notesSlides/notesSlide4.xml" Id="Rb1828a9c84234d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3fbacae00e64552" /><Relationship Type="http://schemas.openxmlformats.org/officeDocument/2006/relationships/image" Target="/ppt/media/image6.png" Id="R1ca17f3933804425" /><Relationship Type="http://schemas.openxmlformats.org/officeDocument/2006/relationships/notesSlide" Target="/ppt/notesSlides/notesSlide5.xml" Id="R705f861588294c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a05f91fb5a44a3a" /><Relationship Type="http://schemas.openxmlformats.org/officeDocument/2006/relationships/image" Target="/ppt/media/image7.png" Id="R5fbc72a82e524fbc" /><Relationship Type="http://schemas.openxmlformats.org/officeDocument/2006/relationships/notesSlide" Target="/ppt/notesSlides/notesSlide6.xml" Id="R99d3d00f49894e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1ee84f06c264511" /><Relationship Type="http://schemas.openxmlformats.org/officeDocument/2006/relationships/image" Target="/ppt/media/image8.png" Id="R002256e3e27245fe" /><Relationship Type="http://schemas.openxmlformats.org/officeDocument/2006/relationships/notesSlide" Target="/ppt/notesSlides/notesSlide7.xml" Id="Rd806b0a743df40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16df16b867d4e6c" /><Relationship Type="http://schemas.openxmlformats.org/officeDocument/2006/relationships/image" Target="/ppt/media/image9.png" Id="R85e8cafc4e9b4dc9" /><Relationship Type="http://schemas.openxmlformats.org/officeDocument/2006/relationships/notesSlide" Target="/ppt/notesSlides/notesSlide8.xml" Id="R9bf445fbbcb240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f4c8f7419cf4c87" /><Relationship Type="http://schemas.openxmlformats.org/officeDocument/2006/relationships/image" Target="/ppt/media/image10.png" Id="R54c0328ec380428e" /><Relationship Type="http://schemas.openxmlformats.org/officeDocument/2006/relationships/notesSlide" Target="/ppt/notesSlides/notesSlide9.xml" Id="Rfec553a1396f4c1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432CFA9-397F-4B78-9DBC-89667FB6D245}"/>
              </a:ext>
            </a:extLst>
          </p:cNvPr>
          <p:cNvSpPr>
            <a:spLocks xmlns:a="http://schemas.openxmlformats.org/drawingml/2006/main" noGrp="1"/>
          </p:cNvSpPr>
          <p:nvPr/>
        </p:nvSpPr>
        <p:spPr>
          <a:xfrm xmlns:a="http://schemas.openxmlformats.org/drawingml/2006/main">
            <a:off x="609600" y="5334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1769AA"/>
                </a:solidFill>
              </a:defRPr>
            </a:pPr>
            <a:r>
              <a:rPr sz="1125" b="1">
                <a:solidFill>
                  <a:srgbClr val="1769AA"/>
                </a:solidFill>
              </a:rPr>
              <a:t>ĐỀ TÀI · TRÍ TUỆ NHÂN TẠO</a:t>
            </a:r>
          </a:p>
        </p:txBody>
      </p:sp>
      <p:sp>
        <p:nvSpPr>
          <p:cNvPr id="2" name="">
            <a:extLst xmlns:a="http://schemas.openxmlformats.org/drawingml/2006/main">
              <a:ext uri="{FF2B5EF4-FFF2-40B4-BE49-F238E27FC236}">
                <a16:creationId xmlns:a16="http://schemas.microsoft.com/office/drawing/2014/main" id="{1072F98C-AC18-46E4-ADC8-C40FC986D2E9}"/>
              </a:ext>
            </a:extLst>
          </p:cNvPr>
          <p:cNvSpPr>
            <a:spLocks xmlns:a="http://schemas.openxmlformats.org/drawingml/2006/main" noGrp="1"/>
          </p:cNvSpPr>
          <p:nvPr/>
        </p:nvSpPr>
        <p:spPr>
          <a:xfrm xmlns:a="http://schemas.openxmlformats.org/drawingml/2006/main">
            <a:off x="609600" y="1143000"/>
            <a:ext cx="6191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600" b="1">
                <a:solidFill>
                  <a:srgbClr val="102A43"/>
                </a:solidFill>
              </a:defRPr>
            </a:pPr>
            <a:r>
              <a:rPr sz="3600" b="1">
                <a:solidFill>
                  <a:srgbClr val="102A43"/>
                </a:solidFill>
              </a:rPr>
              <a:t>Xây dựng chương trình</a:t>
            </a:r>
          </a:p>
          <a:p xmlns:a="http://schemas.openxmlformats.org/drawingml/2006/main">
            <a:pPr algn="l">
              <a:buNone/>
              <a:defRPr sz="3600" b="1">
                <a:solidFill>
                  <a:srgbClr val="102A43"/>
                </a:solidFill>
              </a:defRPr>
            </a:pPr>
            <a:r>
              <a:rPr sz="3600" b="1">
                <a:solidFill>
                  <a:srgbClr val="102A43"/>
                </a:solidFill>
              </a:rPr>
              <a:t>hỏi đáp bằng ngôn ngữ tự nhiên</a:t>
            </a:r>
          </a:p>
          <a:p xmlns:a="http://schemas.openxmlformats.org/drawingml/2006/main">
            <a:pPr algn="l">
              <a:buNone/>
              <a:defRPr sz="3600" b="1">
                <a:solidFill>
                  <a:srgbClr val="102A43"/>
                </a:solidFill>
              </a:defRPr>
            </a:pPr>
            <a:r>
              <a:rPr sz="3600" b="1">
                <a:solidFill>
                  <a:srgbClr val="102A43"/>
                </a:solidFill>
              </a:rPr>
              <a:t>hỗ trợ tuyển sinh</a:t>
            </a:r>
          </a:p>
        </p:txBody>
      </p:sp>
      <p:sp>
        <p:nvSpPr>
          <p:cNvPr id="3" name="">
            <a:extLst xmlns:a="http://schemas.openxmlformats.org/drawingml/2006/main">
              <a:ext uri="{FF2B5EF4-FFF2-40B4-BE49-F238E27FC236}">
                <a16:creationId xmlns:a16="http://schemas.microsoft.com/office/drawing/2014/main" id="{4910E3FA-46EB-4CD4-B894-6DEB318AAFCB}"/>
              </a:ext>
            </a:extLst>
          </p:cNvPr>
          <p:cNvSpPr>
            <a:spLocks xmlns:a="http://schemas.openxmlformats.org/drawingml/2006/main" noGrp="1"/>
          </p:cNvSpPr>
          <p:nvPr/>
        </p:nvSpPr>
        <p:spPr>
          <a:xfrm xmlns:a="http://schemas.openxmlformats.org/drawingml/2006/main">
            <a:off x="647700" y="339090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0">
                <a:solidFill>
                  <a:srgbClr val="52677D"/>
                </a:solidFill>
              </a:defRPr>
            </a:pPr>
            <a:r>
              <a:rPr sz="1800" b="0">
                <a:solidFill>
                  <a:srgbClr val="52677D"/>
                </a:solidFill>
              </a:rPr>
              <a:t>Trường Đại học Công nghệ Đông Á</a:t>
            </a:r>
          </a:p>
        </p:txBody>
      </p:sp>
      <p:sp>
        <p:nvSpPr>
          <p:cNvPr id="4" name="">
            <a:extLst xmlns:a="http://schemas.openxmlformats.org/drawingml/2006/main">
              <a:ext uri="{FF2B5EF4-FFF2-40B4-BE49-F238E27FC236}">
                <a16:creationId xmlns:a16="http://schemas.microsoft.com/office/drawing/2014/main" id="{2B2EEB88-3512-4A1A-92D9-32CD1F094532}"/>
              </a:ext>
            </a:extLst>
          </p:cNvPr>
          <p:cNvSpPr>
            <a:spLocks xmlns:a="http://schemas.openxmlformats.org/drawingml/2006/main" noGrp="1"/>
          </p:cNvSpPr>
          <p:nvPr/>
        </p:nvSpPr>
        <p:spPr>
          <a:xfrm xmlns:a="http://schemas.openxmlformats.org/drawingml/2006/main">
            <a:off x="647700" y="3981450"/>
            <a:ext cx="2143125" cy="57150"/>
          </a:xfrm>
          <a:prstGeom xmlns:a="http://schemas.openxmlformats.org/drawingml/2006/main" prst="rect">
            <a:avLst/>
          </a:prstGeom>
          <a:solidFill xmlns:a="http://schemas.openxmlformats.org/drawingml/2006/main">
            <a:srgbClr val="62B6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E25C013-6040-45A3-BF50-112608B58BAD}"/>
              </a:ext>
            </a:extLst>
          </p:cNvPr>
          <p:cNvSpPr>
            <a:spLocks xmlns:a="http://schemas.openxmlformats.org/drawingml/2006/main" noGrp="1"/>
          </p:cNvSpPr>
          <p:nvPr/>
        </p:nvSpPr>
        <p:spPr>
          <a:xfrm xmlns:a="http://schemas.openxmlformats.org/drawingml/2006/main">
            <a:off x="647700" y="4305300"/>
            <a:ext cx="561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52677D"/>
                </a:solidFill>
              </a:defRPr>
            </a:pPr>
            <a:r>
              <a:rPr sz="1350" b="0">
                <a:solidFill>
                  <a:srgbClr val="52677D"/>
                </a:solidFill>
              </a:rPr>
              <a:t>Giới thiệu dự án · Công nghệ · Phạm vi · Đánh giá · Hướng mở rộng</a:t>
            </a:r>
          </a:p>
        </p:txBody>
      </p:sp>
      <p:sp>
        <p:nvSpPr>
          <p:cNvPr id="6" name="">
            <a:extLst xmlns:a="http://schemas.openxmlformats.org/drawingml/2006/main">
              <a:ext uri="{FF2B5EF4-FFF2-40B4-BE49-F238E27FC236}">
                <a16:creationId xmlns:a16="http://schemas.microsoft.com/office/drawing/2014/main" id="{2254E290-8243-48FE-B9AD-58C72D471981}"/>
              </a:ext>
            </a:extLst>
          </p:cNvPr>
          <p:cNvSpPr>
            <a:spLocks xmlns:a="http://schemas.openxmlformats.org/drawingml/2006/main" noGrp="1"/>
          </p:cNvSpPr>
          <p:nvPr/>
        </p:nvSpPr>
        <p:spPr>
          <a:xfrm xmlns:a="http://schemas.openxmlformats.org/drawingml/2006/main">
            <a:off x="7600950" y="790575"/>
            <a:ext cx="3429000" cy="4667250"/>
          </a:xfrm>
          <a:prstGeom xmlns:a="http://schemas.openxmlformats.org/drawingml/2006/main" prst="roundRect">
            <a:avLst>
              <a:gd name="adj" fmla="val 2222"/>
            </a:avLst>
          </a:prstGeom>
          <a:solidFill xmlns:a="http://schemas.openxmlformats.org/drawingml/2006/main">
            <a:srgbClr val="0B355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D6B76F4-61AF-4FF2-94CD-3924062FC3DC}"/>
              </a:ext>
            </a:extLst>
          </p:cNvPr>
          <p:cNvSpPr>
            <a:spLocks xmlns:a="http://schemas.openxmlformats.org/drawingml/2006/main" noGrp="1"/>
          </p:cNvSpPr>
          <p:nvPr/>
        </p:nvSpPr>
        <p:spPr>
          <a:xfrm xmlns:a="http://schemas.openxmlformats.org/drawingml/2006/main">
            <a:off x="8077200" y="1333500"/>
            <a:ext cx="2247900" cy="971550"/>
          </a:xfrm>
          <a:prstGeom xmlns:a="http://schemas.openxmlformats.org/drawingml/2006/main" prst="roundRect">
            <a:avLst>
              <a:gd name="adj" fmla="val 7843"/>
            </a:avLst>
          </a:prstGeom>
          <a:solidFill xmlns:a="http://schemas.openxmlformats.org/drawingml/2006/main">
            <a:srgbClr val="62B6E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8C6CA66-1845-43FE-AECB-6B02ED9FB732}"/>
              </a:ext>
            </a:extLst>
          </p:cNvPr>
          <p:cNvSpPr>
            <a:spLocks xmlns:a="http://schemas.openxmlformats.org/drawingml/2006/main" noGrp="1"/>
          </p:cNvSpPr>
          <p:nvPr/>
        </p:nvSpPr>
        <p:spPr>
          <a:xfrm xmlns:a="http://schemas.openxmlformats.org/drawingml/2006/main">
            <a:off x="8305800" y="1495425"/>
            <a:ext cx="1809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3558"/>
                </a:solidFill>
              </a:defRPr>
            </a:pPr>
            <a:r>
              <a:rPr sz="1575" b="1">
                <a:solidFill>
                  <a:srgbClr val="0B3558"/>
                </a:solidFill>
              </a:rPr>
              <a:t>Em muốn biết</a:t>
            </a:r>
          </a:p>
          <a:p xmlns:a="http://schemas.openxmlformats.org/drawingml/2006/main">
            <a:pPr algn="l">
              <a:buNone/>
              <a:defRPr sz="1575" b="1">
                <a:solidFill>
                  <a:srgbClr val="0B3558"/>
                </a:solidFill>
              </a:defRPr>
            </a:pPr>
            <a:r>
              <a:rPr sz="1575" b="1">
                <a:solidFill>
                  <a:srgbClr val="0B3558"/>
                </a:solidFill>
              </a:rPr>
              <a:t>điều kiện xét tuyển?</a:t>
            </a:r>
          </a:p>
        </p:txBody>
      </p:sp>
      <p:sp>
        <p:nvSpPr>
          <p:cNvPr id="9" name="">
            <a:extLst xmlns:a="http://schemas.openxmlformats.org/drawingml/2006/main">
              <a:ext uri="{FF2B5EF4-FFF2-40B4-BE49-F238E27FC236}">
                <a16:creationId xmlns:a16="http://schemas.microsoft.com/office/drawing/2014/main" id="{ABC5BB45-77C5-4388-84D0-3F29544CBB36}"/>
              </a:ext>
            </a:extLst>
          </p:cNvPr>
          <p:cNvSpPr>
            <a:spLocks xmlns:a="http://schemas.openxmlformats.org/drawingml/2006/main" noGrp="1"/>
          </p:cNvSpPr>
          <p:nvPr/>
        </p:nvSpPr>
        <p:spPr>
          <a:xfrm xmlns:a="http://schemas.openxmlformats.org/drawingml/2006/main">
            <a:off x="7867650" y="2762250"/>
            <a:ext cx="24955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BE2A511-087D-449B-9C8C-5268372584EE}"/>
              </a:ext>
            </a:extLst>
          </p:cNvPr>
          <p:cNvSpPr>
            <a:spLocks xmlns:a="http://schemas.openxmlformats.org/drawingml/2006/main" noGrp="1"/>
          </p:cNvSpPr>
          <p:nvPr/>
        </p:nvSpPr>
        <p:spPr>
          <a:xfrm xmlns:a="http://schemas.openxmlformats.org/drawingml/2006/main">
            <a:off x="8096250" y="295275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0B3558"/>
                </a:solidFill>
              </a:defRPr>
            </a:pPr>
            <a:r>
              <a:rPr sz="1500" b="1">
                <a:solidFill>
                  <a:srgbClr val="0B3558"/>
                </a:solidFill>
              </a:rPr>
              <a:t>Hệ thống trả lời dựa</a:t>
            </a:r>
          </a:p>
          <a:p xmlns:a="http://schemas.openxmlformats.org/drawingml/2006/main">
            <a:pPr algn="l">
              <a:buNone/>
              <a:defRPr sz="1500" b="1">
                <a:solidFill>
                  <a:srgbClr val="0B3558"/>
                </a:solidFill>
              </a:defRPr>
            </a:pPr>
            <a:r>
              <a:rPr sz="1500" b="1">
                <a:solidFill>
                  <a:srgbClr val="0B3558"/>
                </a:solidFill>
              </a:rPr>
              <a:t>trên dữ liệu tuyển sinh</a:t>
            </a:r>
          </a:p>
        </p:txBody>
      </p:sp>
      <p:sp>
        <p:nvSpPr>
          <p:cNvPr id="11" name="">
            <a:extLst xmlns:a="http://schemas.openxmlformats.org/drawingml/2006/main">
              <a:ext uri="{FF2B5EF4-FFF2-40B4-BE49-F238E27FC236}">
                <a16:creationId xmlns:a16="http://schemas.microsoft.com/office/drawing/2014/main" id="{7E3F315E-33B3-42AA-B1FC-CC95D975E220}"/>
              </a:ext>
            </a:extLst>
          </p:cNvPr>
          <p:cNvSpPr>
            <a:spLocks xmlns:a="http://schemas.openxmlformats.org/drawingml/2006/main" noGrp="1"/>
          </p:cNvSpPr>
          <p:nvPr/>
        </p:nvSpPr>
        <p:spPr>
          <a:xfrm xmlns:a="http://schemas.openxmlformats.org/drawingml/2006/main">
            <a:off x="8448675" y="4286250"/>
            <a:ext cx="1752600" cy="704850"/>
          </a:xfrm>
          <a:prstGeom xmlns:a="http://schemas.openxmlformats.org/drawingml/2006/main" prst="roundRect">
            <a:avLst>
              <a:gd name="adj" fmla="val 10811"/>
            </a:avLst>
          </a:prstGeom>
          <a:solidFill xmlns:a="http://schemas.openxmlformats.org/drawingml/2006/main">
            <a:srgbClr val="F5B94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EE8DEB9-229F-4C05-AD03-D21CD56781C8}"/>
              </a:ext>
            </a:extLst>
          </p:cNvPr>
          <p:cNvSpPr>
            <a:spLocks xmlns:a="http://schemas.openxmlformats.org/drawingml/2006/main" noGrp="1"/>
          </p:cNvSpPr>
          <p:nvPr/>
        </p:nvSpPr>
        <p:spPr>
          <a:xfrm xmlns:a="http://schemas.openxmlformats.org/drawingml/2006/main">
            <a:off x="8639175" y="4486275"/>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B3558"/>
                </a:solidFill>
              </a:defRPr>
            </a:pPr>
            <a:r>
              <a:rPr sz="1350" b="1">
                <a:solidFill>
                  <a:srgbClr val="0B3558"/>
                </a:solidFill>
              </a:rPr>
              <a:t>Nhanh · rõ · đúng</a:t>
            </a:r>
          </a:p>
        </p:txBody>
      </p:sp>
      <p:sp>
        <p:nvSpPr>
          <p:cNvPr id="13" name="">
            <a:extLst xmlns:a="http://schemas.openxmlformats.org/drawingml/2006/main">
              <a:ext uri="{FF2B5EF4-FFF2-40B4-BE49-F238E27FC236}">
                <a16:creationId xmlns:a16="http://schemas.microsoft.com/office/drawing/2014/main" id="{72E8BE72-626E-49AD-B6AA-9F1751FFF000}"/>
              </a:ext>
            </a:extLst>
          </p:cNvPr>
          <p:cNvSpPr>
            <a:spLocks xmlns:a="http://schemas.openxmlformats.org/drawingml/2006/main" noGrp="1"/>
          </p:cNvSpPr>
          <p:nvPr/>
        </p:nvSpPr>
        <p:spPr>
          <a:xfrm xmlns:a="http://schemas.openxmlformats.org/drawingml/2006/main">
            <a:off x="647700" y="60198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0">
                <a:solidFill>
                  <a:srgbClr val="52677D"/>
                </a:solidFill>
              </a:defRPr>
            </a:pPr>
            <a:r>
              <a:rPr sz="1125" b="0">
                <a:solidFill>
                  <a:srgbClr val="52677D"/>
                </a:solidFill>
              </a:rPr>
              <a:t>[Tên sinh viên] · [Lớp] · [Giảng viên hướng dẫn]</a:t>
            </a:r>
          </a:p>
        </p:txBody>
      </p:sp>
      <p:sp>
        <p:nvSpPr>
          <p:cNvPr id="15" name="">
            <a:extLst xmlns:a="http://schemas.openxmlformats.org/drawingml/2006/main">
              <a:ext uri="{FF2B5EF4-FFF2-40B4-BE49-F238E27FC236}">
                <a16:creationId xmlns:a16="http://schemas.microsoft.com/office/drawing/2014/main" id="{93AFB19E-505E-40DE-A1D2-B3A41480BC91}"/>
              </a:ext>
            </a:extLst>
          </p:cNvPr>
          <p:cNvSpPr>
            <a:spLocks xmlns:a="http://schemas.openxmlformats.org/drawingml/2006/main" noGrp="1"/>
          </p:cNvSpPr>
          <p:nvPr/>
        </p:nvSpPr>
        <p:spPr>
          <a:xfrm xmlns:a="http://schemas.openxmlformats.org/drawingml/2006/main">
            <a:off x="7353300" y="590550"/>
            <a:ext cx="4038600" cy="5143500"/>
          </a:xfrm>
          <a:prstGeom xmlns:a="http://schemas.openxmlformats.org/drawingml/2006/main" prst="roundRect">
            <a:avLst>
              <a:gd name="adj" fmla="val 1887"/>
            </a:avLst>
          </a:prstGeom>
          <a:solidFill xmlns:a="http://schemas.openxmlformats.org/drawingml/2006/main">
            <a:srgbClr val="F4F9F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FD42913-B1E3-4179-8662-E5B6973F2360}"/>
              </a:ext>
            </a:extLst>
          </p:cNvPr>
          <p:cNvSpPr>
            <a:spLocks xmlns:a="http://schemas.openxmlformats.org/drawingml/2006/main" noGrp="1"/>
          </p:cNvSpPr>
          <p:nvPr/>
        </p:nvSpPr>
        <p:spPr>
          <a:xfrm xmlns:a="http://schemas.openxmlformats.org/drawingml/2006/main">
            <a:off x="7658100" y="876300"/>
            <a:ext cx="3429000" cy="819150"/>
          </a:xfrm>
          <a:prstGeom xmlns:a="http://schemas.openxmlformats.org/drawingml/2006/main" prst="roundRect">
            <a:avLst>
              <a:gd name="adj" fmla="val 9302"/>
            </a:avLst>
          </a:prstGeom>
          <a:solidFill xmlns:a="http://schemas.openxmlformats.org/drawingml/2006/main">
            <a:srgbClr val="0B355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4F627A9-6E14-4D19-B03E-3D4B5CD12C83}"/>
              </a:ext>
            </a:extLst>
          </p:cNvPr>
          <p:cNvSpPr>
            <a:spLocks xmlns:a="http://schemas.openxmlformats.org/drawingml/2006/main" noGrp="1"/>
          </p:cNvSpPr>
          <p:nvPr/>
        </p:nvSpPr>
        <p:spPr>
          <a:xfrm xmlns:a="http://schemas.openxmlformats.org/drawingml/2006/main">
            <a:off x="7924800" y="10668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EAUT AI ADMISSIONS</a:t>
            </a:r>
          </a:p>
        </p:txBody>
      </p:sp>
      <p:sp>
        <p:nvSpPr>
          <p:cNvPr id="18" name="">
            <a:extLst xmlns:a="http://schemas.openxmlformats.org/drawingml/2006/main">
              <a:ext uri="{FF2B5EF4-FFF2-40B4-BE49-F238E27FC236}">
                <a16:creationId xmlns:a16="http://schemas.microsoft.com/office/drawing/2014/main" id="{066ADDAB-893F-4437-96E1-4081508B44F8}"/>
              </a:ext>
            </a:extLst>
          </p:cNvPr>
          <p:cNvSpPr>
            <a:spLocks xmlns:a="http://schemas.openxmlformats.org/drawingml/2006/main" noGrp="1"/>
          </p:cNvSpPr>
          <p:nvPr/>
        </p:nvSpPr>
        <p:spPr>
          <a:xfrm xmlns:a="http://schemas.openxmlformats.org/drawingml/2006/main">
            <a:off x="7924800" y="1333500"/>
            <a:ext cx="2895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2B6E8"/>
                </a:solidFill>
              </a:defRPr>
            </a:pPr>
            <a:r>
              <a:rPr sz="1050" b="1">
                <a:solidFill>
                  <a:srgbClr val="62B6E8"/>
                </a:solidFill>
              </a:rPr>
              <a:t>Trợ lý tuyển sinh thông minh</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102d718b4e2d42f1"/>
          <a:stretch xmlns:a="http://schemas.openxmlformats.org/drawingml/2006/main"/>
        </p:blipFill>
        <p:spPr>
          <a:xfrm xmlns:a="http://schemas.openxmlformats.org/drawingml/2006/main">
            <a:off x="7938625" y="1695450"/>
            <a:ext cx="2867949" cy="30480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EA5CD437-3837-41D9-B75A-9B59720B938D}"/>
              </a:ext>
            </a:extLst>
          </p:cNvPr>
          <p:cNvSpPr>
            <a:spLocks xmlns:a="http://schemas.openxmlformats.org/drawingml/2006/main" noGrp="1"/>
          </p:cNvSpPr>
          <p:nvPr/>
        </p:nvSpPr>
        <p:spPr>
          <a:xfrm xmlns:a="http://schemas.openxmlformats.org/drawingml/2006/main">
            <a:off x="7848600" y="4876800"/>
            <a:ext cx="30480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0">
            <a:no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4ba7aa6f12004080"/>
          <a:stretch xmlns:a="http://schemas.openxmlformats.org/drawingml/2006/main"/>
        </p:blipFill>
        <p:spPr>
          <a:xfrm xmlns:a="http://schemas.openxmlformats.org/drawingml/2006/main">
            <a:off x="7981950" y="4954972"/>
            <a:ext cx="476250" cy="434206"/>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106469F4-4D07-4BB7-936A-816D2A67CC0C}"/>
              </a:ext>
            </a:extLst>
          </p:cNvPr>
          <p:cNvSpPr>
            <a:spLocks xmlns:a="http://schemas.openxmlformats.org/drawingml/2006/main" noGrp="1"/>
          </p:cNvSpPr>
          <p:nvPr/>
        </p:nvSpPr>
        <p:spPr>
          <a:xfrm xmlns:a="http://schemas.openxmlformats.org/drawingml/2006/main">
            <a:off x="8572500" y="4991100"/>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0B3558"/>
                </a:solidFill>
              </a:defRPr>
            </a:pPr>
            <a:r>
              <a:rPr sz="975" b="1">
                <a:solidFill>
                  <a:srgbClr val="0B3558"/>
                </a:solidFill>
              </a:rPr>
              <a:t>HỎI ĐÚNG · HIỂU NHANH · HỖ TRỢ KỊP THỜI</a:t>
            </a:r>
          </a:p>
        </p:txBody>
      </p:sp>
      <p:sp>
        <p:nvSpPr>
          <p:cNvPr id="23" name="">
            <a:extLst xmlns:a="http://schemas.openxmlformats.org/drawingml/2006/main">
              <a:ext uri="{FF2B5EF4-FFF2-40B4-BE49-F238E27FC236}">
                <a16:creationId xmlns:a16="http://schemas.microsoft.com/office/drawing/2014/main" id="{B5F46137-E38B-4A2C-9812-C5877B18D4B6}"/>
              </a:ext>
            </a:extLst>
          </p:cNvPr>
          <p:cNvSpPr>
            <a:spLocks xmlns:a="http://schemas.openxmlformats.org/drawingml/2006/main" noGrp="1"/>
          </p:cNvSpPr>
          <p:nvPr/>
        </p:nvSpPr>
        <p:spPr>
          <a:xfrm xmlns:a="http://schemas.openxmlformats.org/drawingml/2006/main">
            <a:off x="647700" y="4686300"/>
            <a:ext cx="581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769AA"/>
                </a:solidFill>
              </a:defRPr>
            </a:pPr>
            <a:r>
              <a:rPr sz="1050" b="1">
                <a:solidFill>
                  <a:srgbClr val="1769AA"/>
                </a:solidFill>
              </a:rPr>
              <a:t>Định hướng theo nhận diện Trường Đại học Công nghệ Đông Á</a:t>
            </a:r>
          </a:p>
        </p:txBody>
      </p:sp>
    </p:spTree>
    <p:extLst>
      <p:ext uri="{BB962C8B-B14F-4D97-AF65-F5344CB8AC3E}">
        <p14:creationId xmlns:p14="http://schemas.microsoft.com/office/powerpoint/2010/main" val="4303184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02C52FD-E187-435F-B576-2CDBC9A0760D}"/>
              </a:ext>
            </a:extLst>
          </p:cNvPr>
          <p:cNvSpPr>
            <a:spLocks xmlns:a="http://schemas.openxmlformats.org/drawingml/2006/main" noGrp="1"/>
          </p:cNvSpPr>
          <p:nvPr/>
        </p:nvSpPr>
        <p:spPr>
          <a:xfrm xmlns:a="http://schemas.openxmlformats.org/drawingml/2006/main">
            <a:off x="6096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1769AA"/>
                </a:solidFill>
              </a:defRPr>
            </a:pPr>
            <a:r>
              <a:rPr sz="1050" b="1">
                <a:solidFill>
                  <a:srgbClr val="1769AA"/>
                </a:solidFill>
              </a:rPr>
              <a:t>DỰ ÁN HỌC PHẦN · TRÍ TUỆ NHÂN TẠO</a:t>
            </a:r>
          </a:p>
        </p:txBody>
      </p:sp>
      <p:sp>
        <p:nvSpPr>
          <p:cNvPr id="2" name="">
            <a:extLst xmlns:a="http://schemas.openxmlformats.org/drawingml/2006/main">
              <a:ext uri="{FF2B5EF4-FFF2-40B4-BE49-F238E27FC236}">
                <a16:creationId xmlns:a16="http://schemas.microsoft.com/office/drawing/2014/main" id="{807A6C8B-BD38-4A2E-91F9-D49CE156E912}"/>
              </a:ext>
            </a:extLst>
          </p:cNvPr>
          <p:cNvSpPr>
            <a:spLocks xmlns:a="http://schemas.openxmlformats.org/drawingml/2006/main" noGrp="1"/>
          </p:cNvSpPr>
          <p:nvPr/>
        </p:nvSpPr>
        <p:spPr>
          <a:xfrm xmlns:a="http://schemas.openxmlformats.org/drawingml/2006/main">
            <a:off x="609600" y="68580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02A43"/>
                </a:solidFill>
              </a:defRPr>
            </a:pPr>
            <a:r>
              <a:rPr sz="2700" b="1">
                <a:solidFill>
                  <a:srgbClr val="102A43"/>
                </a:solidFill>
              </a:rPr>
              <a:t>Tư vấn tuyển sinh cần phản hồi nhất quán và dễ tiếp cận</a:t>
            </a:r>
          </a:p>
        </p:txBody>
      </p:sp>
      <p:sp>
        <p:nvSpPr>
          <p:cNvPr id="3" name="">
            <a:extLst xmlns:a="http://schemas.openxmlformats.org/drawingml/2006/main">
              <a:ext uri="{FF2B5EF4-FFF2-40B4-BE49-F238E27FC236}">
                <a16:creationId xmlns:a16="http://schemas.microsoft.com/office/drawing/2014/main" id="{5B155D32-31BB-403B-980D-79BF74464376}"/>
              </a:ext>
            </a:extLst>
          </p:cNvPr>
          <p:cNvSpPr>
            <a:spLocks xmlns:a="http://schemas.openxmlformats.org/drawingml/2006/main" noGrp="1"/>
          </p:cNvSpPr>
          <p:nvPr/>
        </p:nvSpPr>
        <p:spPr>
          <a:xfrm xmlns:a="http://schemas.openxmlformats.org/drawingml/2006/main">
            <a:off x="10953750" y="36195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125" b="1">
                <a:solidFill>
                  <a:srgbClr val="52677D"/>
                </a:solidFill>
              </a:defRPr>
            </a:pPr>
            <a:r>
              <a:rPr sz="1125" b="1">
                <a:solidFill>
                  <a:srgbClr val="52677D"/>
                </a:solidFill>
              </a:rPr>
              <a:t>02</a:t>
            </a:r>
          </a:p>
        </p:txBody>
      </p:sp>
      <p:sp>
        <p:nvSpPr>
          <p:cNvPr id="4" name="">
            <a:extLst xmlns:a="http://schemas.openxmlformats.org/drawingml/2006/main">
              <a:ext uri="{FF2B5EF4-FFF2-40B4-BE49-F238E27FC236}">
                <a16:creationId xmlns:a16="http://schemas.microsoft.com/office/drawing/2014/main" id="{B993AAD4-419E-4A3C-B41D-82C337B0B9DD}"/>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CED9E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47A6616-E475-4F25-BF0D-A1B304473BB5}"/>
              </a:ext>
            </a:extLst>
          </p:cNvPr>
          <p:cNvSpPr>
            <a:spLocks xmlns:a="http://schemas.openxmlformats.org/drawingml/2006/main" noGrp="1"/>
          </p:cNvSpPr>
          <p:nvPr/>
        </p:nvSpPr>
        <p:spPr>
          <a:xfrm xmlns:a="http://schemas.openxmlformats.org/drawingml/2006/main">
            <a:off x="609600" y="17716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102A43"/>
                </a:solidFill>
              </a:defRPr>
            </a:pPr>
            <a:r>
              <a:rPr sz="1800" b="1">
                <a:solidFill>
                  <a:srgbClr val="102A43"/>
                </a:solidFill>
              </a:rPr>
              <a:t>Bối cảnh</a:t>
            </a:r>
          </a:p>
        </p:txBody>
      </p:sp>
      <p:sp>
        <p:nvSpPr>
          <p:cNvPr id="6" name="">
            <a:extLst xmlns:a="http://schemas.openxmlformats.org/drawingml/2006/main">
              <a:ext uri="{FF2B5EF4-FFF2-40B4-BE49-F238E27FC236}">
                <a16:creationId xmlns:a16="http://schemas.microsoft.com/office/drawing/2014/main" id="{69C7B49E-C666-4B12-9ED2-2749CD33D37E}"/>
              </a:ext>
            </a:extLst>
          </p:cNvPr>
          <p:cNvSpPr>
            <a:spLocks xmlns:a="http://schemas.openxmlformats.org/drawingml/2006/main" noGrp="1"/>
          </p:cNvSpPr>
          <p:nvPr/>
        </p:nvSpPr>
        <p:spPr>
          <a:xfrm xmlns:a="http://schemas.openxmlformats.org/drawingml/2006/main">
            <a:off x="609600" y="2209800"/>
            <a:ext cx="3905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52677D"/>
                </a:solidFill>
              </a:defRPr>
            </a:pPr>
            <a:r>
              <a:rPr sz="1650" b="0">
                <a:solidFill>
                  <a:srgbClr val="52677D"/>
                </a:solidFill>
              </a:rPr>
              <a:t>Người học thường cần câu trả lời ngay về ngành, học phí, điều kiện và hồ sơ.</a:t>
            </a:r>
          </a:p>
        </p:txBody>
      </p:sp>
      <p:sp>
        <p:nvSpPr>
          <p:cNvPr id="7" name="">
            <a:extLst xmlns:a="http://schemas.openxmlformats.org/drawingml/2006/main">
              <a:ext uri="{FF2B5EF4-FFF2-40B4-BE49-F238E27FC236}">
                <a16:creationId xmlns:a16="http://schemas.microsoft.com/office/drawing/2014/main" id="{3956628E-6560-44E0-B8EE-4E15D84C2821}"/>
              </a:ext>
            </a:extLst>
          </p:cNvPr>
          <p:cNvSpPr>
            <a:spLocks xmlns:a="http://schemas.openxmlformats.org/drawingml/2006/main" noGrp="1"/>
          </p:cNvSpPr>
          <p:nvPr/>
        </p:nvSpPr>
        <p:spPr>
          <a:xfrm xmlns:a="http://schemas.openxmlformats.org/drawingml/2006/main">
            <a:off x="609600" y="39052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102A43"/>
                </a:solidFill>
              </a:defRPr>
            </a:pPr>
            <a:r>
              <a:rPr sz="1800" b="1">
                <a:solidFill>
                  <a:srgbClr val="102A43"/>
                </a:solidFill>
              </a:rPr>
              <a:t>Mục tiêu dự án</a:t>
            </a:r>
          </a:p>
        </p:txBody>
      </p:sp>
      <p:sp>
        <p:nvSpPr>
          <p:cNvPr id="8" name="">
            <a:extLst xmlns:a="http://schemas.openxmlformats.org/drawingml/2006/main">
              <a:ext uri="{FF2B5EF4-FFF2-40B4-BE49-F238E27FC236}">
                <a16:creationId xmlns:a16="http://schemas.microsoft.com/office/drawing/2014/main" id="{73C7A770-97F6-4A4C-96DF-5A323DD3896B}"/>
              </a:ext>
            </a:extLst>
          </p:cNvPr>
          <p:cNvSpPr>
            <a:spLocks xmlns:a="http://schemas.openxmlformats.org/drawingml/2006/main" noGrp="1"/>
          </p:cNvSpPr>
          <p:nvPr/>
        </p:nvSpPr>
        <p:spPr>
          <a:xfrm xmlns:a="http://schemas.openxmlformats.org/drawingml/2006/main">
            <a:off x="609600" y="4343400"/>
            <a:ext cx="3905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52677D"/>
                </a:solidFill>
              </a:defRPr>
            </a:pPr>
            <a:r>
              <a:rPr sz="1650" b="0">
                <a:solidFill>
                  <a:srgbClr val="52677D"/>
                </a:solidFill>
              </a:rPr>
              <a:t>Tạo chatbot hiểu câu hỏi tiếng Việt tự nhiên, truy xuất tri thức tuyển sinh và đưa ra câu trả lời có kiểm soát.</a:t>
            </a:r>
          </a:p>
        </p:txBody>
      </p:sp>
      <p:sp>
        <p:nvSpPr>
          <p:cNvPr id="9" name="">
            <a:extLst xmlns:a="http://schemas.openxmlformats.org/drawingml/2006/main">
              <a:ext uri="{FF2B5EF4-FFF2-40B4-BE49-F238E27FC236}">
                <a16:creationId xmlns:a16="http://schemas.microsoft.com/office/drawing/2014/main" id="{C7249561-1564-419C-8AAA-87A29D8D877C}"/>
              </a:ext>
            </a:extLst>
          </p:cNvPr>
          <p:cNvSpPr>
            <a:spLocks xmlns:a="http://schemas.openxmlformats.org/drawingml/2006/main" noGrp="1"/>
          </p:cNvSpPr>
          <p:nvPr/>
        </p:nvSpPr>
        <p:spPr>
          <a:xfrm xmlns:a="http://schemas.openxmlformats.org/drawingml/2006/main">
            <a:off x="5391150" y="1790700"/>
            <a:ext cx="5581650" cy="3543300"/>
          </a:xfrm>
          <a:prstGeom xmlns:a="http://schemas.openxmlformats.org/drawingml/2006/main" prst="roundRect">
            <a:avLst>
              <a:gd name="adj" fmla="val 2151"/>
            </a:avLst>
          </a:prstGeom>
          <a:solidFill xmlns:a="http://schemas.openxmlformats.org/drawingml/2006/main">
            <a:srgbClr val="F3F7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95DDC28-85B9-4200-BEA4-C59A9436E59B}"/>
              </a:ext>
            </a:extLst>
          </p:cNvPr>
          <p:cNvSpPr>
            <a:spLocks xmlns:a="http://schemas.openxmlformats.org/drawingml/2006/main" noGrp="1"/>
          </p:cNvSpPr>
          <p:nvPr/>
        </p:nvSpPr>
        <p:spPr>
          <a:xfrm xmlns:a="http://schemas.openxmlformats.org/drawingml/2006/main">
            <a:off x="5810250" y="20764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102A43"/>
                </a:solidFill>
              </a:defRPr>
            </a:pPr>
            <a:r>
              <a:rPr sz="1800" b="1">
                <a:solidFill>
                  <a:srgbClr val="102A43"/>
                </a:solidFill>
              </a:rPr>
              <a:t>Giá trị mong muốn</a:t>
            </a:r>
          </a:p>
        </p:txBody>
      </p:sp>
      <p:sp>
        <p:nvSpPr>
          <p:cNvPr id="11" name="">
            <a:extLst xmlns:a="http://schemas.openxmlformats.org/drawingml/2006/main">
              <a:ext uri="{FF2B5EF4-FFF2-40B4-BE49-F238E27FC236}">
                <a16:creationId xmlns:a16="http://schemas.microsoft.com/office/drawing/2014/main" id="{94256C3A-8D0E-4A07-B975-E50A6928F682}"/>
              </a:ext>
            </a:extLst>
          </p:cNvPr>
          <p:cNvSpPr>
            <a:spLocks xmlns:a="http://schemas.openxmlformats.org/drawingml/2006/main" noGrp="1"/>
          </p:cNvSpPr>
          <p:nvPr/>
        </p:nvSpPr>
        <p:spPr>
          <a:xfrm xmlns:a="http://schemas.openxmlformats.org/drawingml/2006/main">
            <a:off x="5810250" y="2686050"/>
            <a:ext cx="895350" cy="514350"/>
          </a:xfrm>
          <a:prstGeom xmlns:a="http://schemas.openxmlformats.org/drawingml/2006/main" prst="roundRect">
            <a:avLst>
              <a:gd name="adj" fmla="val 14815"/>
            </a:avLst>
          </a:prstGeom>
          <a:solidFill xmlns:a="http://schemas.openxmlformats.org/drawingml/2006/main">
            <a:srgbClr val="62B6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6001B4B-EAB1-472A-AEEE-391ADD6FFFE1}"/>
              </a:ext>
            </a:extLst>
          </p:cNvPr>
          <p:cNvSpPr>
            <a:spLocks xmlns:a="http://schemas.openxmlformats.org/drawingml/2006/main" noGrp="1"/>
          </p:cNvSpPr>
          <p:nvPr/>
        </p:nvSpPr>
        <p:spPr>
          <a:xfrm xmlns:a="http://schemas.openxmlformats.org/drawingml/2006/main">
            <a:off x="5905500" y="2800350"/>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B3558"/>
                </a:solidFill>
              </a:defRPr>
            </a:pPr>
            <a:r>
              <a:rPr sz="1350" b="1">
                <a:solidFill>
                  <a:srgbClr val="0B3558"/>
                </a:solidFill>
              </a:rPr>
              <a:t>24/7</a:t>
            </a:r>
          </a:p>
        </p:txBody>
      </p:sp>
      <p:sp>
        <p:nvSpPr>
          <p:cNvPr id="13" name="">
            <a:extLst xmlns:a="http://schemas.openxmlformats.org/drawingml/2006/main">
              <a:ext uri="{FF2B5EF4-FFF2-40B4-BE49-F238E27FC236}">
                <a16:creationId xmlns:a16="http://schemas.microsoft.com/office/drawing/2014/main" id="{A5C8CDD4-880E-485E-AC3F-302ADCDD4E71}"/>
              </a:ext>
            </a:extLst>
          </p:cNvPr>
          <p:cNvSpPr>
            <a:spLocks xmlns:a="http://schemas.openxmlformats.org/drawingml/2006/main" noGrp="1"/>
          </p:cNvSpPr>
          <p:nvPr/>
        </p:nvSpPr>
        <p:spPr>
          <a:xfrm xmlns:a="http://schemas.openxmlformats.org/drawingml/2006/main">
            <a:off x="6991350" y="2762250"/>
            <a:ext cx="3381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102A43"/>
                </a:solidFill>
              </a:defRPr>
            </a:pPr>
            <a:r>
              <a:rPr sz="1425" b="1">
                <a:solidFill>
                  <a:srgbClr val="102A43"/>
                </a:solidFill>
              </a:rPr>
              <a:t>Hỗ trợ bất cứ thời điểm nào</a:t>
            </a:r>
          </a:p>
        </p:txBody>
      </p:sp>
      <p:sp>
        <p:nvSpPr>
          <p:cNvPr id="14" name="">
            <a:extLst xmlns:a="http://schemas.openxmlformats.org/drawingml/2006/main">
              <a:ext uri="{FF2B5EF4-FFF2-40B4-BE49-F238E27FC236}">
                <a16:creationId xmlns:a16="http://schemas.microsoft.com/office/drawing/2014/main" id="{92672954-C896-4CBA-8B64-943F6FCB7087}"/>
              </a:ext>
            </a:extLst>
          </p:cNvPr>
          <p:cNvSpPr>
            <a:spLocks xmlns:a="http://schemas.openxmlformats.org/drawingml/2006/main" noGrp="1"/>
          </p:cNvSpPr>
          <p:nvPr/>
        </p:nvSpPr>
        <p:spPr>
          <a:xfrm xmlns:a="http://schemas.openxmlformats.org/drawingml/2006/main">
            <a:off x="5810250" y="3467100"/>
            <a:ext cx="895350" cy="514350"/>
          </a:xfrm>
          <a:prstGeom xmlns:a="http://schemas.openxmlformats.org/drawingml/2006/main" prst="roundRect">
            <a:avLst>
              <a:gd name="adj" fmla="val 14815"/>
            </a:avLst>
          </a:prstGeom>
          <a:solidFill xmlns:a="http://schemas.openxmlformats.org/drawingml/2006/main">
            <a:srgbClr val="F5B94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73DBDDF-823D-4283-A538-476DD697E32B}"/>
              </a:ext>
            </a:extLst>
          </p:cNvPr>
          <p:cNvSpPr>
            <a:spLocks xmlns:a="http://schemas.openxmlformats.org/drawingml/2006/main" noGrp="1"/>
          </p:cNvSpPr>
          <p:nvPr/>
        </p:nvSpPr>
        <p:spPr>
          <a:xfrm xmlns:a="http://schemas.openxmlformats.org/drawingml/2006/main">
            <a:off x="5905500" y="3581400"/>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B3558"/>
                </a:solidFill>
              </a:defRPr>
            </a:pPr>
            <a:r>
              <a:rPr sz="1350" b="1">
                <a:solidFill>
                  <a:srgbClr val="0B3558"/>
                </a:solidFill>
              </a:rPr>
              <a:t>Nhất quán</a:t>
            </a:r>
          </a:p>
        </p:txBody>
      </p:sp>
      <p:sp>
        <p:nvSpPr>
          <p:cNvPr id="16" name="">
            <a:extLst xmlns:a="http://schemas.openxmlformats.org/drawingml/2006/main">
              <a:ext uri="{FF2B5EF4-FFF2-40B4-BE49-F238E27FC236}">
                <a16:creationId xmlns:a16="http://schemas.microsoft.com/office/drawing/2014/main" id="{C2837FAA-7DF4-4D53-AD0D-123CB0F4DE1B}"/>
              </a:ext>
            </a:extLst>
          </p:cNvPr>
          <p:cNvSpPr>
            <a:spLocks xmlns:a="http://schemas.openxmlformats.org/drawingml/2006/main" noGrp="1"/>
          </p:cNvSpPr>
          <p:nvPr/>
        </p:nvSpPr>
        <p:spPr>
          <a:xfrm xmlns:a="http://schemas.openxmlformats.org/drawingml/2006/main">
            <a:off x="6991350" y="3543300"/>
            <a:ext cx="3381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102A43"/>
                </a:solidFill>
              </a:defRPr>
            </a:pPr>
            <a:r>
              <a:rPr sz="1425" b="1">
                <a:solidFill>
                  <a:srgbClr val="102A43"/>
                </a:solidFill>
              </a:rPr>
              <a:t>Một nguồn thông tin tập trung</a:t>
            </a:r>
          </a:p>
        </p:txBody>
      </p:sp>
      <p:sp>
        <p:nvSpPr>
          <p:cNvPr id="17" name="">
            <a:extLst xmlns:a="http://schemas.openxmlformats.org/drawingml/2006/main">
              <a:ext uri="{FF2B5EF4-FFF2-40B4-BE49-F238E27FC236}">
                <a16:creationId xmlns:a16="http://schemas.microsoft.com/office/drawing/2014/main" id="{95A8BE2B-D0C3-4AEF-8A7F-010D00E03A83}"/>
              </a:ext>
            </a:extLst>
          </p:cNvPr>
          <p:cNvSpPr>
            <a:spLocks xmlns:a="http://schemas.openxmlformats.org/drawingml/2006/main" noGrp="1"/>
          </p:cNvSpPr>
          <p:nvPr/>
        </p:nvSpPr>
        <p:spPr>
          <a:xfrm xmlns:a="http://schemas.openxmlformats.org/drawingml/2006/main">
            <a:off x="5810250" y="4248150"/>
            <a:ext cx="895350" cy="514350"/>
          </a:xfrm>
          <a:prstGeom xmlns:a="http://schemas.openxmlformats.org/drawingml/2006/main" prst="roundRect">
            <a:avLst>
              <a:gd name="adj" fmla="val 14815"/>
            </a:avLst>
          </a:prstGeom>
          <a:solidFill xmlns:a="http://schemas.openxmlformats.org/drawingml/2006/main">
            <a:srgbClr val="46A37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0ABD31B-5CB3-4B9D-BAFC-9051377EBF21}"/>
              </a:ext>
            </a:extLst>
          </p:cNvPr>
          <p:cNvSpPr>
            <a:spLocks xmlns:a="http://schemas.openxmlformats.org/drawingml/2006/main" noGrp="1"/>
          </p:cNvSpPr>
          <p:nvPr/>
        </p:nvSpPr>
        <p:spPr>
          <a:xfrm xmlns:a="http://schemas.openxmlformats.org/drawingml/2006/main">
            <a:off x="5905500" y="4362450"/>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B3558"/>
                </a:solidFill>
              </a:defRPr>
            </a:pPr>
            <a:r>
              <a:rPr sz="1350" b="1">
                <a:solidFill>
                  <a:srgbClr val="0B3558"/>
                </a:solidFill>
              </a:rPr>
              <a:t>Tự nhiên</a:t>
            </a:r>
          </a:p>
        </p:txBody>
      </p:sp>
      <p:sp>
        <p:nvSpPr>
          <p:cNvPr id="19" name="">
            <a:extLst xmlns:a="http://schemas.openxmlformats.org/drawingml/2006/main">
              <a:ext uri="{FF2B5EF4-FFF2-40B4-BE49-F238E27FC236}">
                <a16:creationId xmlns:a16="http://schemas.microsoft.com/office/drawing/2014/main" id="{E2803CB2-D10B-41DC-94B5-1A30123D37C4}"/>
              </a:ext>
            </a:extLst>
          </p:cNvPr>
          <p:cNvSpPr>
            <a:spLocks xmlns:a="http://schemas.openxmlformats.org/drawingml/2006/main" noGrp="1"/>
          </p:cNvSpPr>
          <p:nvPr/>
        </p:nvSpPr>
        <p:spPr>
          <a:xfrm xmlns:a="http://schemas.openxmlformats.org/drawingml/2006/main">
            <a:off x="6991350" y="4324350"/>
            <a:ext cx="3381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102A43"/>
                </a:solidFill>
              </a:defRPr>
            </a:pPr>
            <a:r>
              <a:rPr sz="1425" b="1">
                <a:solidFill>
                  <a:srgbClr val="102A43"/>
                </a:solidFill>
              </a:rPr>
              <a:t>Không cần nhớ cú pháp truy vấn</a:t>
            </a:r>
          </a:p>
        </p:txBody>
      </p:sp>
      <p:sp>
        <p:nvSpPr>
          <p:cNvPr id="20" name="">
            <a:extLst xmlns:a="http://schemas.openxmlformats.org/drawingml/2006/main">
              <a:ext uri="{FF2B5EF4-FFF2-40B4-BE49-F238E27FC236}">
                <a16:creationId xmlns:a16="http://schemas.microsoft.com/office/drawing/2014/main" id="{EACC56D7-B241-486A-B54A-F6B1CDC1B15F}"/>
              </a:ext>
            </a:extLst>
          </p:cNvPr>
          <p:cNvSpPr>
            <a:spLocks xmlns:a="http://schemas.openxmlformats.org/drawingml/2006/main" noGrp="1"/>
          </p:cNvSpPr>
          <p:nvPr/>
        </p:nvSpPr>
        <p:spPr>
          <a:xfrm xmlns:a="http://schemas.openxmlformats.org/drawingml/2006/main">
            <a:off x="6096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0">
                <a:solidFill>
                  <a:srgbClr val="52677D"/>
                </a:solidFill>
              </a:defRPr>
            </a:pPr>
            <a:r>
              <a:rPr sz="900" b="0">
                <a:solidFill>
                  <a:srgbClr val="52677D"/>
                </a:solidFill>
              </a:rPr>
              <a:t>Đại học Công nghệ Đông Á · Hệ thống hỏi đáp tuyển sinh</a:t>
            </a:r>
          </a:p>
        </p:txBody>
      </p:sp>
      <p:sp>
        <p:nvSpPr>
          <p:cNvPr id="21" name="">
            <a:extLst xmlns:a="http://schemas.openxmlformats.org/drawingml/2006/main">
              <a:ext uri="{FF2B5EF4-FFF2-40B4-BE49-F238E27FC236}">
                <a16:creationId xmlns:a16="http://schemas.microsoft.com/office/drawing/2014/main" id="{3A0976AC-FBB2-4708-B12A-E9E286A8BCB5}"/>
              </a:ext>
            </a:extLst>
          </p:cNvPr>
          <p:cNvSpPr>
            <a:spLocks xmlns:a="http://schemas.openxmlformats.org/drawingml/2006/main" noGrp="1"/>
          </p:cNvSpPr>
          <p:nvPr/>
        </p:nvSpPr>
        <p:spPr>
          <a:xfrm xmlns:a="http://schemas.openxmlformats.org/drawingml/2006/main">
            <a:off x="11239500" y="64198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2677D"/>
                </a:solidFill>
              </a:defRPr>
            </a:pPr>
            <a:r>
              <a:rPr sz="900" b="1">
                <a:solidFill>
                  <a:srgbClr val="52677D"/>
                </a:solidFill>
              </a:rPr>
              <a:t>2</a:t>
            </a:r>
          </a:p>
        </p:txBody>
      </p:sp>
      <p:sp>
        <p:nvSpPr>
          <p:cNvPr id="23" name="">
            <a:extLst xmlns:a="http://schemas.openxmlformats.org/drawingml/2006/main">
              <a:ext uri="{FF2B5EF4-FFF2-40B4-BE49-F238E27FC236}">
                <a16:creationId xmlns:a16="http://schemas.microsoft.com/office/drawing/2014/main" id="{C35AD74D-5E0C-4312-9BAA-75643CC9129B}"/>
              </a:ext>
            </a:extLst>
          </p:cNvPr>
          <p:cNvSpPr>
            <a:spLocks xmlns:a="http://schemas.openxmlformats.org/drawingml/2006/main" noGrp="1"/>
          </p:cNvSpPr>
          <p:nvPr/>
        </p:nvSpPr>
        <p:spPr>
          <a:xfrm xmlns:a="http://schemas.openxmlformats.org/drawingml/2006/main">
            <a:off x="10115550" y="438150"/>
            <a:ext cx="10096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2191e61293b4416c"/>
          <a:stretch xmlns:a="http://schemas.openxmlformats.org/drawingml/2006/main"/>
        </p:blipFill>
        <p:spPr>
          <a:xfrm xmlns:a="http://schemas.openxmlformats.org/drawingml/2006/main">
            <a:off x="10286061" y="476250"/>
            <a:ext cx="668627" cy="6096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51B3C731-90B2-47B3-8C70-85908BD94A05}"/>
              </a:ext>
            </a:extLst>
          </p:cNvPr>
          <p:cNvSpPr>
            <a:spLocks xmlns:a="http://schemas.openxmlformats.org/drawingml/2006/main" noGrp="1"/>
          </p:cNvSpPr>
          <p:nvPr/>
        </p:nvSpPr>
        <p:spPr>
          <a:xfrm xmlns:a="http://schemas.openxmlformats.org/drawingml/2006/main">
            <a:off x="8763000" y="514350"/>
            <a:ext cx="1219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1769AA"/>
                </a:solidFill>
              </a:defRPr>
            </a:pPr>
            <a:r>
              <a:rPr sz="825" b="1">
                <a:solidFill>
                  <a:srgbClr val="1769AA"/>
                </a:solidFill>
              </a:rPr>
              <a:t>EAUT · AI ADMISSIONS</a:t>
            </a:r>
          </a:p>
        </p:txBody>
      </p:sp>
    </p:spTree>
    <p:extLst>
      <p:ext uri="{BB962C8B-B14F-4D97-AF65-F5344CB8AC3E}">
        <p14:creationId xmlns:p14="http://schemas.microsoft.com/office/powerpoint/2010/main" val="3585484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36FCB5E-FBC4-4898-B487-AFD48F68AC85}"/>
              </a:ext>
            </a:extLst>
          </p:cNvPr>
          <p:cNvSpPr>
            <a:spLocks xmlns:a="http://schemas.openxmlformats.org/drawingml/2006/main" noGrp="1"/>
          </p:cNvSpPr>
          <p:nvPr/>
        </p:nvSpPr>
        <p:spPr>
          <a:xfrm xmlns:a="http://schemas.openxmlformats.org/drawingml/2006/main">
            <a:off x="6096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1769AA"/>
                </a:solidFill>
              </a:defRPr>
            </a:pPr>
            <a:r>
              <a:rPr sz="1050" b="1">
                <a:solidFill>
                  <a:srgbClr val="1769AA"/>
                </a:solidFill>
              </a:rPr>
              <a:t>DỰ ÁN HỌC PHẦN · TRÍ TUỆ NHÂN TẠO</a:t>
            </a:r>
          </a:p>
        </p:txBody>
      </p:sp>
      <p:sp>
        <p:nvSpPr>
          <p:cNvPr id="2" name="">
            <a:extLst xmlns:a="http://schemas.openxmlformats.org/drawingml/2006/main">
              <a:ext uri="{FF2B5EF4-FFF2-40B4-BE49-F238E27FC236}">
                <a16:creationId xmlns:a16="http://schemas.microsoft.com/office/drawing/2014/main" id="{36631F2C-0A82-42B7-BB3D-9786DD9D0F53}"/>
              </a:ext>
            </a:extLst>
          </p:cNvPr>
          <p:cNvSpPr>
            <a:spLocks xmlns:a="http://schemas.openxmlformats.org/drawingml/2006/main" noGrp="1"/>
          </p:cNvSpPr>
          <p:nvPr/>
        </p:nvSpPr>
        <p:spPr>
          <a:xfrm xmlns:a="http://schemas.openxmlformats.org/drawingml/2006/main">
            <a:off x="609600" y="68580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02A43"/>
                </a:solidFill>
              </a:defRPr>
            </a:pPr>
            <a:r>
              <a:rPr sz="2700" b="1">
                <a:solidFill>
                  <a:srgbClr val="102A43"/>
                </a:solidFill>
              </a:rPr>
              <a:t>Phạm vi tập trung vào các câu hỏi tuyển sinh cốt lõi</a:t>
            </a:r>
          </a:p>
        </p:txBody>
      </p:sp>
      <p:sp>
        <p:nvSpPr>
          <p:cNvPr id="3" name="">
            <a:extLst xmlns:a="http://schemas.openxmlformats.org/drawingml/2006/main">
              <a:ext uri="{FF2B5EF4-FFF2-40B4-BE49-F238E27FC236}">
                <a16:creationId xmlns:a16="http://schemas.microsoft.com/office/drawing/2014/main" id="{0CF24F6C-B517-4153-B710-57F3B8D959B9}"/>
              </a:ext>
            </a:extLst>
          </p:cNvPr>
          <p:cNvSpPr>
            <a:spLocks xmlns:a="http://schemas.openxmlformats.org/drawingml/2006/main" noGrp="1"/>
          </p:cNvSpPr>
          <p:nvPr/>
        </p:nvSpPr>
        <p:spPr>
          <a:xfrm xmlns:a="http://schemas.openxmlformats.org/drawingml/2006/main">
            <a:off x="10953750" y="36195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125" b="1">
                <a:solidFill>
                  <a:srgbClr val="52677D"/>
                </a:solidFill>
              </a:defRPr>
            </a:pPr>
            <a:r>
              <a:rPr sz="1125" b="1">
                <a:solidFill>
                  <a:srgbClr val="52677D"/>
                </a:solidFill>
              </a:rPr>
              <a:t>03</a:t>
            </a:r>
          </a:p>
        </p:txBody>
      </p:sp>
      <p:sp>
        <p:nvSpPr>
          <p:cNvPr id="4" name="">
            <a:extLst xmlns:a="http://schemas.openxmlformats.org/drawingml/2006/main">
              <a:ext uri="{FF2B5EF4-FFF2-40B4-BE49-F238E27FC236}">
                <a16:creationId xmlns:a16="http://schemas.microsoft.com/office/drawing/2014/main" id="{B72F77BC-CD4C-4952-95D4-AA0D1FC3E27E}"/>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CED9E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592D8EC-0A23-406E-A2A9-ECDB5F1B0F77}"/>
              </a:ext>
            </a:extLst>
          </p:cNvPr>
          <p:cNvSpPr>
            <a:spLocks xmlns:a="http://schemas.openxmlformats.org/drawingml/2006/main" noGrp="1"/>
          </p:cNvSpPr>
          <p:nvPr/>
        </p:nvSpPr>
        <p:spPr>
          <a:xfrm xmlns:a="http://schemas.openxmlformats.org/drawingml/2006/main">
            <a:off x="609600" y="18097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a:solidFill>
                  <a:srgbClr val="46A37D"/>
                </a:solidFill>
              </a:defRPr>
            </a:pPr>
            <a:r>
              <a:rPr sz="1275" b="1">
                <a:solidFill>
                  <a:srgbClr val="46A37D"/>
                </a:solidFill>
              </a:rPr>
              <a:t>TRONG PHẠM VI</a:t>
            </a:r>
          </a:p>
        </p:txBody>
      </p:sp>
      <p:sp>
        <p:nvSpPr>
          <p:cNvPr id="6" name="">
            <a:extLst xmlns:a="http://schemas.openxmlformats.org/drawingml/2006/main">
              <a:ext uri="{FF2B5EF4-FFF2-40B4-BE49-F238E27FC236}">
                <a16:creationId xmlns:a16="http://schemas.microsoft.com/office/drawing/2014/main" id="{C9B8A084-9370-4A35-86E0-DB37FD67ED71}"/>
              </a:ext>
            </a:extLst>
          </p:cNvPr>
          <p:cNvSpPr>
            <a:spLocks xmlns:a="http://schemas.openxmlformats.org/drawingml/2006/main" noGrp="1"/>
          </p:cNvSpPr>
          <p:nvPr/>
        </p:nvSpPr>
        <p:spPr>
          <a:xfrm xmlns:a="http://schemas.openxmlformats.org/drawingml/2006/main">
            <a:off x="609600" y="2152650"/>
            <a:ext cx="4572000" cy="38100"/>
          </a:xfrm>
          <a:prstGeom xmlns:a="http://schemas.openxmlformats.org/drawingml/2006/main" prst="rect">
            <a:avLst/>
          </a:prstGeom>
          <a:solidFill xmlns:a="http://schemas.openxmlformats.org/drawingml/2006/main">
            <a:srgbClr val="46A37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51902A4-6076-4E05-A0A7-7AD6A7698373}"/>
              </a:ext>
            </a:extLst>
          </p:cNvPr>
          <p:cNvSpPr>
            <a:spLocks xmlns:a="http://schemas.openxmlformats.org/drawingml/2006/main" noGrp="1"/>
          </p:cNvSpPr>
          <p:nvPr/>
        </p:nvSpPr>
        <p:spPr>
          <a:xfrm xmlns:a="http://schemas.openxmlformats.org/drawingml/2006/main">
            <a:off x="609600" y="2457450"/>
            <a:ext cx="247650" cy="247650"/>
          </a:xfrm>
          <a:prstGeom xmlns:a="http://schemas.openxmlformats.org/drawingml/2006/main" prst="roundRect">
            <a:avLst>
              <a:gd name="adj" fmla="val 30769"/>
            </a:avLst>
          </a:prstGeom>
          <a:solidFill xmlns:a="http://schemas.openxmlformats.org/drawingml/2006/main">
            <a:srgbClr val="46A3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CFDE44E-7120-4234-8D9C-4DFC4746E39A}"/>
              </a:ext>
            </a:extLst>
          </p:cNvPr>
          <p:cNvSpPr>
            <a:spLocks xmlns:a="http://schemas.openxmlformats.org/drawingml/2006/main" noGrp="1"/>
          </p:cNvSpPr>
          <p:nvPr/>
        </p:nvSpPr>
        <p:spPr>
          <a:xfrm xmlns:a="http://schemas.openxmlformats.org/drawingml/2006/main">
            <a:off x="638175" y="247650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b="1">
                <a:solidFill>
                  <a:srgbClr val="FFFFFF"/>
                </a:solidFill>
              </a:defRPr>
            </a:pPr>
            <a:r>
              <a:rPr sz="975" b="1">
                <a:solidFill>
                  <a:srgbClr val="FFFFFF"/>
                </a:solidFill>
              </a:rPr>
              <a:t>1</a:t>
            </a:r>
          </a:p>
        </p:txBody>
      </p:sp>
      <p:sp>
        <p:nvSpPr>
          <p:cNvPr id="9" name="">
            <a:extLst xmlns:a="http://schemas.openxmlformats.org/drawingml/2006/main">
              <a:ext uri="{FF2B5EF4-FFF2-40B4-BE49-F238E27FC236}">
                <a16:creationId xmlns:a16="http://schemas.microsoft.com/office/drawing/2014/main" id="{FD6F71E8-B562-4E8D-8FC6-067FC788F64C}"/>
              </a:ext>
            </a:extLst>
          </p:cNvPr>
          <p:cNvSpPr>
            <a:spLocks xmlns:a="http://schemas.openxmlformats.org/drawingml/2006/main" noGrp="1"/>
          </p:cNvSpPr>
          <p:nvPr/>
        </p:nvSpPr>
        <p:spPr>
          <a:xfrm xmlns:a="http://schemas.openxmlformats.org/drawingml/2006/main">
            <a:off x="1066800" y="2428875"/>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102A43"/>
                </a:solidFill>
              </a:defRPr>
            </a:pPr>
            <a:r>
              <a:rPr sz="1575" b="0">
                <a:solidFill>
                  <a:srgbClr val="102A43"/>
                </a:solidFill>
              </a:rPr>
              <a:t>Thông tin ngành/chương trình đào tạo</a:t>
            </a:r>
          </a:p>
        </p:txBody>
      </p:sp>
      <p:sp>
        <p:nvSpPr>
          <p:cNvPr id="10" name="">
            <a:extLst xmlns:a="http://schemas.openxmlformats.org/drawingml/2006/main">
              <a:ext uri="{FF2B5EF4-FFF2-40B4-BE49-F238E27FC236}">
                <a16:creationId xmlns:a16="http://schemas.microsoft.com/office/drawing/2014/main" id="{18113F5E-F935-44A5-A3C5-9386DAF14A8B}"/>
              </a:ext>
            </a:extLst>
          </p:cNvPr>
          <p:cNvSpPr>
            <a:spLocks xmlns:a="http://schemas.openxmlformats.org/drawingml/2006/main" noGrp="1"/>
          </p:cNvSpPr>
          <p:nvPr/>
        </p:nvSpPr>
        <p:spPr>
          <a:xfrm xmlns:a="http://schemas.openxmlformats.org/drawingml/2006/main">
            <a:off x="609600" y="3086100"/>
            <a:ext cx="247650" cy="247650"/>
          </a:xfrm>
          <a:prstGeom xmlns:a="http://schemas.openxmlformats.org/drawingml/2006/main" prst="roundRect">
            <a:avLst>
              <a:gd name="adj" fmla="val 30769"/>
            </a:avLst>
          </a:prstGeom>
          <a:solidFill xmlns:a="http://schemas.openxmlformats.org/drawingml/2006/main">
            <a:srgbClr val="46A3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6A86B50-55DD-4443-8A27-EFAFB9B7E1B1}"/>
              </a:ext>
            </a:extLst>
          </p:cNvPr>
          <p:cNvSpPr>
            <a:spLocks xmlns:a="http://schemas.openxmlformats.org/drawingml/2006/main" noGrp="1"/>
          </p:cNvSpPr>
          <p:nvPr/>
        </p:nvSpPr>
        <p:spPr>
          <a:xfrm xmlns:a="http://schemas.openxmlformats.org/drawingml/2006/main">
            <a:off x="638175" y="310515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b="1">
                <a:solidFill>
                  <a:srgbClr val="FFFFFF"/>
                </a:solidFill>
              </a:defRPr>
            </a:pPr>
            <a:r>
              <a:rPr sz="975" b="1">
                <a:solidFill>
                  <a:srgbClr val="FFFFFF"/>
                </a:solidFill>
              </a:rPr>
              <a:t>2</a:t>
            </a:r>
          </a:p>
        </p:txBody>
      </p:sp>
      <p:sp>
        <p:nvSpPr>
          <p:cNvPr id="12" name="">
            <a:extLst xmlns:a="http://schemas.openxmlformats.org/drawingml/2006/main">
              <a:ext uri="{FF2B5EF4-FFF2-40B4-BE49-F238E27FC236}">
                <a16:creationId xmlns:a16="http://schemas.microsoft.com/office/drawing/2014/main" id="{F9513F8B-CD55-44D8-A9F7-78AC3EE64310}"/>
              </a:ext>
            </a:extLst>
          </p:cNvPr>
          <p:cNvSpPr>
            <a:spLocks xmlns:a="http://schemas.openxmlformats.org/drawingml/2006/main" noGrp="1"/>
          </p:cNvSpPr>
          <p:nvPr/>
        </p:nvSpPr>
        <p:spPr>
          <a:xfrm xmlns:a="http://schemas.openxmlformats.org/drawingml/2006/main">
            <a:off x="1066800" y="3057525"/>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102A43"/>
                </a:solidFill>
              </a:defRPr>
            </a:pPr>
            <a:r>
              <a:rPr sz="1575" b="0">
                <a:solidFill>
                  <a:srgbClr val="102A43"/>
                </a:solidFill>
              </a:rPr>
              <a:t>Điều kiện, phương thức xét tuyển</a:t>
            </a:r>
          </a:p>
        </p:txBody>
      </p:sp>
      <p:sp>
        <p:nvSpPr>
          <p:cNvPr id="13" name="">
            <a:extLst xmlns:a="http://schemas.openxmlformats.org/drawingml/2006/main">
              <a:ext uri="{FF2B5EF4-FFF2-40B4-BE49-F238E27FC236}">
                <a16:creationId xmlns:a16="http://schemas.microsoft.com/office/drawing/2014/main" id="{FEC14AAE-0E05-4973-8459-307336EA4370}"/>
              </a:ext>
            </a:extLst>
          </p:cNvPr>
          <p:cNvSpPr>
            <a:spLocks xmlns:a="http://schemas.openxmlformats.org/drawingml/2006/main" noGrp="1"/>
          </p:cNvSpPr>
          <p:nvPr/>
        </p:nvSpPr>
        <p:spPr>
          <a:xfrm xmlns:a="http://schemas.openxmlformats.org/drawingml/2006/main">
            <a:off x="609600" y="3714750"/>
            <a:ext cx="247650" cy="247650"/>
          </a:xfrm>
          <a:prstGeom xmlns:a="http://schemas.openxmlformats.org/drawingml/2006/main" prst="roundRect">
            <a:avLst>
              <a:gd name="adj" fmla="val 30769"/>
            </a:avLst>
          </a:prstGeom>
          <a:solidFill xmlns:a="http://schemas.openxmlformats.org/drawingml/2006/main">
            <a:srgbClr val="46A37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65681FA-506F-4F40-B737-5DA544C4050F}"/>
              </a:ext>
            </a:extLst>
          </p:cNvPr>
          <p:cNvSpPr>
            <a:spLocks xmlns:a="http://schemas.openxmlformats.org/drawingml/2006/main" noGrp="1"/>
          </p:cNvSpPr>
          <p:nvPr/>
        </p:nvSpPr>
        <p:spPr>
          <a:xfrm xmlns:a="http://schemas.openxmlformats.org/drawingml/2006/main">
            <a:off x="638175" y="373380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b="1">
                <a:solidFill>
                  <a:srgbClr val="FFFFFF"/>
                </a:solidFill>
              </a:defRPr>
            </a:pPr>
            <a:r>
              <a:rPr sz="975" b="1">
                <a:solidFill>
                  <a:srgbClr val="FFFFFF"/>
                </a:solidFill>
              </a:rPr>
              <a:t>3</a:t>
            </a:r>
          </a:p>
        </p:txBody>
      </p:sp>
      <p:sp>
        <p:nvSpPr>
          <p:cNvPr id="15" name="">
            <a:extLst xmlns:a="http://schemas.openxmlformats.org/drawingml/2006/main">
              <a:ext uri="{FF2B5EF4-FFF2-40B4-BE49-F238E27FC236}">
                <a16:creationId xmlns:a16="http://schemas.microsoft.com/office/drawing/2014/main" id="{12853B9F-AD38-4E47-9149-2BDD6F3FCDB0}"/>
              </a:ext>
            </a:extLst>
          </p:cNvPr>
          <p:cNvSpPr>
            <a:spLocks xmlns:a="http://schemas.openxmlformats.org/drawingml/2006/main" noGrp="1"/>
          </p:cNvSpPr>
          <p:nvPr/>
        </p:nvSpPr>
        <p:spPr>
          <a:xfrm xmlns:a="http://schemas.openxmlformats.org/drawingml/2006/main">
            <a:off x="1066800" y="3686175"/>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102A43"/>
                </a:solidFill>
              </a:defRPr>
            </a:pPr>
            <a:r>
              <a:rPr sz="1575" b="0">
                <a:solidFill>
                  <a:srgbClr val="102A43"/>
                </a:solidFill>
              </a:rPr>
              <a:t>Học phí, hồ sơ, mốc thời gian</a:t>
            </a:r>
          </a:p>
        </p:txBody>
      </p:sp>
      <p:sp>
        <p:nvSpPr>
          <p:cNvPr id="16" name="">
            <a:extLst xmlns:a="http://schemas.openxmlformats.org/drawingml/2006/main">
              <a:ext uri="{FF2B5EF4-FFF2-40B4-BE49-F238E27FC236}">
                <a16:creationId xmlns:a16="http://schemas.microsoft.com/office/drawing/2014/main" id="{C812940B-BDDC-4425-B299-DCB0E2556286}"/>
              </a:ext>
            </a:extLst>
          </p:cNvPr>
          <p:cNvSpPr>
            <a:spLocks xmlns:a="http://schemas.openxmlformats.org/drawingml/2006/main" noGrp="1"/>
          </p:cNvSpPr>
          <p:nvPr/>
        </p:nvSpPr>
        <p:spPr>
          <a:xfrm xmlns:a="http://schemas.openxmlformats.org/drawingml/2006/main">
            <a:off x="609600" y="4343400"/>
            <a:ext cx="247650" cy="247650"/>
          </a:xfrm>
          <a:prstGeom xmlns:a="http://schemas.openxmlformats.org/drawingml/2006/main" prst="roundRect">
            <a:avLst>
              <a:gd name="adj" fmla="val 30769"/>
            </a:avLst>
          </a:prstGeom>
          <a:solidFill xmlns:a="http://schemas.openxmlformats.org/drawingml/2006/main">
            <a:srgbClr val="46A37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8E88E6D-427F-42D5-B152-D8A33F250250}"/>
              </a:ext>
            </a:extLst>
          </p:cNvPr>
          <p:cNvSpPr>
            <a:spLocks xmlns:a="http://schemas.openxmlformats.org/drawingml/2006/main" noGrp="1"/>
          </p:cNvSpPr>
          <p:nvPr/>
        </p:nvSpPr>
        <p:spPr>
          <a:xfrm xmlns:a="http://schemas.openxmlformats.org/drawingml/2006/main">
            <a:off x="638175" y="436245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b="1">
                <a:solidFill>
                  <a:srgbClr val="FFFFFF"/>
                </a:solidFill>
              </a:defRPr>
            </a:pPr>
            <a:r>
              <a:rPr sz="975" b="1">
                <a:solidFill>
                  <a:srgbClr val="FFFFFF"/>
                </a:solidFill>
              </a:rPr>
              <a:t>4</a:t>
            </a:r>
          </a:p>
        </p:txBody>
      </p:sp>
      <p:sp>
        <p:nvSpPr>
          <p:cNvPr id="18" name="">
            <a:extLst xmlns:a="http://schemas.openxmlformats.org/drawingml/2006/main">
              <a:ext uri="{FF2B5EF4-FFF2-40B4-BE49-F238E27FC236}">
                <a16:creationId xmlns:a16="http://schemas.microsoft.com/office/drawing/2014/main" id="{C8569BF5-D803-4882-94E8-603736E6577C}"/>
              </a:ext>
            </a:extLst>
          </p:cNvPr>
          <p:cNvSpPr>
            <a:spLocks xmlns:a="http://schemas.openxmlformats.org/drawingml/2006/main" noGrp="1"/>
          </p:cNvSpPr>
          <p:nvPr/>
        </p:nvSpPr>
        <p:spPr>
          <a:xfrm xmlns:a="http://schemas.openxmlformats.org/drawingml/2006/main">
            <a:off x="1066800" y="4314825"/>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102A43"/>
                </a:solidFill>
              </a:defRPr>
            </a:pPr>
            <a:r>
              <a:rPr sz="1575" b="0">
                <a:solidFill>
                  <a:srgbClr val="102A43"/>
                </a:solidFill>
              </a:rPr>
              <a:t>Địa chỉ liên hệ và hướng dẫn tiếp theo</a:t>
            </a:r>
          </a:p>
        </p:txBody>
      </p:sp>
      <p:sp>
        <p:nvSpPr>
          <p:cNvPr id="19" name="">
            <a:extLst xmlns:a="http://schemas.openxmlformats.org/drawingml/2006/main">
              <a:ext uri="{FF2B5EF4-FFF2-40B4-BE49-F238E27FC236}">
                <a16:creationId xmlns:a16="http://schemas.microsoft.com/office/drawing/2014/main" id="{6EEEF990-09E7-473E-938A-7864A55C211E}"/>
              </a:ext>
            </a:extLst>
          </p:cNvPr>
          <p:cNvSpPr>
            <a:spLocks xmlns:a="http://schemas.openxmlformats.org/drawingml/2006/main" noGrp="1"/>
          </p:cNvSpPr>
          <p:nvPr/>
        </p:nvSpPr>
        <p:spPr>
          <a:xfrm xmlns:a="http://schemas.openxmlformats.org/drawingml/2006/main">
            <a:off x="6172200" y="18097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a:solidFill>
                  <a:srgbClr val="E56B6F"/>
                </a:solidFill>
              </a:defRPr>
            </a:pPr>
            <a:r>
              <a:rPr sz="1275" b="1">
                <a:solidFill>
                  <a:srgbClr val="E56B6F"/>
                </a:solidFill>
              </a:rPr>
              <a:t>NGOÀI PHẠM VI BAN ĐẦU</a:t>
            </a:r>
          </a:p>
        </p:txBody>
      </p:sp>
      <p:sp>
        <p:nvSpPr>
          <p:cNvPr id="20" name="">
            <a:extLst xmlns:a="http://schemas.openxmlformats.org/drawingml/2006/main">
              <a:ext uri="{FF2B5EF4-FFF2-40B4-BE49-F238E27FC236}">
                <a16:creationId xmlns:a16="http://schemas.microsoft.com/office/drawing/2014/main" id="{B40AB36E-57FE-448B-865B-CC1C9F9C2C32}"/>
              </a:ext>
            </a:extLst>
          </p:cNvPr>
          <p:cNvSpPr>
            <a:spLocks xmlns:a="http://schemas.openxmlformats.org/drawingml/2006/main" noGrp="1"/>
          </p:cNvSpPr>
          <p:nvPr/>
        </p:nvSpPr>
        <p:spPr>
          <a:xfrm xmlns:a="http://schemas.openxmlformats.org/drawingml/2006/main">
            <a:off x="6172200" y="2152650"/>
            <a:ext cx="4572000" cy="38100"/>
          </a:xfrm>
          <a:prstGeom xmlns:a="http://schemas.openxmlformats.org/drawingml/2006/main" prst="rect">
            <a:avLst/>
          </a:prstGeom>
          <a:solidFill xmlns:a="http://schemas.openxmlformats.org/drawingml/2006/main">
            <a:srgbClr val="E56B6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75FF11E-2303-4C83-848C-A5B52C73A785}"/>
              </a:ext>
            </a:extLst>
          </p:cNvPr>
          <p:cNvSpPr>
            <a:spLocks xmlns:a="http://schemas.openxmlformats.org/drawingml/2006/main" noGrp="1"/>
          </p:cNvSpPr>
          <p:nvPr/>
        </p:nvSpPr>
        <p:spPr>
          <a:xfrm xmlns:a="http://schemas.openxmlformats.org/drawingml/2006/main">
            <a:off x="6172200" y="2457450"/>
            <a:ext cx="247650" cy="247650"/>
          </a:xfrm>
          <a:prstGeom xmlns:a="http://schemas.openxmlformats.org/drawingml/2006/main" prst="roundRect">
            <a:avLst>
              <a:gd name="adj" fmla="val 30769"/>
            </a:avLst>
          </a:prstGeom>
          <a:solidFill xmlns:a="http://schemas.openxmlformats.org/drawingml/2006/main">
            <a:srgbClr val="FDECEE"/>
          </a:solidFill>
          <a:ln xmlns:a="http://schemas.openxmlformats.org/drawingml/2006/main" w="9525">
            <a:solidFill>
              <a:srgbClr val="E56B6F"/>
            </a:solidFill>
            <a:prstDash val="solid"/>
          </a:ln>
        </p:spPr>
      </p:sp>
      <p:sp>
        <p:nvSpPr>
          <p:cNvPr id="22" name="">
            <a:extLst xmlns:a="http://schemas.openxmlformats.org/drawingml/2006/main">
              <a:ext uri="{FF2B5EF4-FFF2-40B4-BE49-F238E27FC236}">
                <a16:creationId xmlns:a16="http://schemas.microsoft.com/office/drawing/2014/main" id="{D7F1605E-335C-4C04-BAE9-02AA133EC231}"/>
              </a:ext>
            </a:extLst>
          </p:cNvPr>
          <p:cNvSpPr>
            <a:spLocks xmlns:a="http://schemas.openxmlformats.org/drawingml/2006/main" noGrp="1"/>
          </p:cNvSpPr>
          <p:nvPr/>
        </p:nvSpPr>
        <p:spPr>
          <a:xfrm xmlns:a="http://schemas.openxmlformats.org/drawingml/2006/main">
            <a:off x="6200775" y="243840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E56B6F"/>
                </a:solidFill>
              </a:defRPr>
            </a:pPr>
            <a:r>
              <a:rPr sz="1200" b="1">
                <a:solidFill>
                  <a:srgbClr val="E56B6F"/>
                </a:solidFill>
              </a:rPr>
              <a:t>—</a:t>
            </a:r>
          </a:p>
        </p:txBody>
      </p:sp>
      <p:sp>
        <p:nvSpPr>
          <p:cNvPr id="23" name="">
            <a:extLst xmlns:a="http://schemas.openxmlformats.org/drawingml/2006/main">
              <a:ext uri="{FF2B5EF4-FFF2-40B4-BE49-F238E27FC236}">
                <a16:creationId xmlns:a16="http://schemas.microsoft.com/office/drawing/2014/main" id="{807B9F92-0099-46A4-A2EA-CD17B0547528}"/>
              </a:ext>
            </a:extLst>
          </p:cNvPr>
          <p:cNvSpPr>
            <a:spLocks xmlns:a="http://schemas.openxmlformats.org/drawingml/2006/main" noGrp="1"/>
          </p:cNvSpPr>
          <p:nvPr/>
        </p:nvSpPr>
        <p:spPr>
          <a:xfrm xmlns:a="http://schemas.openxmlformats.org/drawingml/2006/main">
            <a:off x="6629400" y="24288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102A43"/>
                </a:solidFill>
              </a:defRPr>
            </a:pPr>
            <a:r>
              <a:rPr sz="1575" b="0">
                <a:solidFill>
                  <a:srgbClr val="102A43"/>
                </a:solidFill>
              </a:rPr>
              <a:t>Tư vấn cá nhân hoá có tính quyết định</a:t>
            </a:r>
          </a:p>
        </p:txBody>
      </p:sp>
      <p:sp>
        <p:nvSpPr>
          <p:cNvPr id="24" name="">
            <a:extLst xmlns:a="http://schemas.openxmlformats.org/drawingml/2006/main">
              <a:ext uri="{FF2B5EF4-FFF2-40B4-BE49-F238E27FC236}">
                <a16:creationId xmlns:a16="http://schemas.microsoft.com/office/drawing/2014/main" id="{CBEF75ED-ED8A-4E08-89C2-F43411E06801}"/>
              </a:ext>
            </a:extLst>
          </p:cNvPr>
          <p:cNvSpPr>
            <a:spLocks xmlns:a="http://schemas.openxmlformats.org/drawingml/2006/main" noGrp="1"/>
          </p:cNvSpPr>
          <p:nvPr/>
        </p:nvSpPr>
        <p:spPr>
          <a:xfrm xmlns:a="http://schemas.openxmlformats.org/drawingml/2006/main">
            <a:off x="6172200" y="3086100"/>
            <a:ext cx="247650" cy="247650"/>
          </a:xfrm>
          <a:prstGeom xmlns:a="http://schemas.openxmlformats.org/drawingml/2006/main" prst="roundRect">
            <a:avLst>
              <a:gd name="adj" fmla="val 30769"/>
            </a:avLst>
          </a:prstGeom>
          <a:solidFill xmlns:a="http://schemas.openxmlformats.org/drawingml/2006/main">
            <a:srgbClr val="FDECEE"/>
          </a:solidFill>
          <a:ln xmlns:a="http://schemas.openxmlformats.org/drawingml/2006/main" w="9525">
            <a:solidFill>
              <a:srgbClr val="E56B6F"/>
            </a:solidFill>
            <a:prstDash val="solid"/>
          </a:ln>
        </p:spPr>
      </p:sp>
      <p:sp>
        <p:nvSpPr>
          <p:cNvPr id="25" name="">
            <a:extLst xmlns:a="http://schemas.openxmlformats.org/drawingml/2006/main">
              <a:ext uri="{FF2B5EF4-FFF2-40B4-BE49-F238E27FC236}">
                <a16:creationId xmlns:a16="http://schemas.microsoft.com/office/drawing/2014/main" id="{E99FAE96-5C7A-4D9D-820B-66127D9D832B}"/>
              </a:ext>
            </a:extLst>
          </p:cNvPr>
          <p:cNvSpPr>
            <a:spLocks xmlns:a="http://schemas.openxmlformats.org/drawingml/2006/main" noGrp="1"/>
          </p:cNvSpPr>
          <p:nvPr/>
        </p:nvSpPr>
        <p:spPr>
          <a:xfrm xmlns:a="http://schemas.openxmlformats.org/drawingml/2006/main">
            <a:off x="6200775" y="306705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E56B6F"/>
                </a:solidFill>
              </a:defRPr>
            </a:pPr>
            <a:r>
              <a:rPr sz="1200" b="1">
                <a:solidFill>
                  <a:srgbClr val="E56B6F"/>
                </a:solidFill>
              </a:rPr>
              <a:t>—</a:t>
            </a:r>
          </a:p>
        </p:txBody>
      </p:sp>
      <p:sp>
        <p:nvSpPr>
          <p:cNvPr id="26" name="">
            <a:extLst xmlns:a="http://schemas.openxmlformats.org/drawingml/2006/main">
              <a:ext uri="{FF2B5EF4-FFF2-40B4-BE49-F238E27FC236}">
                <a16:creationId xmlns:a16="http://schemas.microsoft.com/office/drawing/2014/main" id="{8DE2034D-0F76-4B2A-A073-C0C15913D8A2}"/>
              </a:ext>
            </a:extLst>
          </p:cNvPr>
          <p:cNvSpPr>
            <a:spLocks xmlns:a="http://schemas.openxmlformats.org/drawingml/2006/main" noGrp="1"/>
          </p:cNvSpPr>
          <p:nvPr/>
        </p:nvSpPr>
        <p:spPr>
          <a:xfrm xmlns:a="http://schemas.openxmlformats.org/drawingml/2006/main">
            <a:off x="6629400" y="30575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102A43"/>
                </a:solidFill>
              </a:defRPr>
            </a:pPr>
            <a:r>
              <a:rPr sz="1575" b="0">
                <a:solidFill>
                  <a:srgbClr val="102A43"/>
                </a:solidFill>
              </a:rPr>
              <a:t>Tra cứu hồ sơ thí sinh thời gian thực</a:t>
            </a:r>
          </a:p>
        </p:txBody>
      </p:sp>
      <p:sp>
        <p:nvSpPr>
          <p:cNvPr id="27" name="">
            <a:extLst xmlns:a="http://schemas.openxmlformats.org/drawingml/2006/main">
              <a:ext uri="{FF2B5EF4-FFF2-40B4-BE49-F238E27FC236}">
                <a16:creationId xmlns:a16="http://schemas.microsoft.com/office/drawing/2014/main" id="{100548FE-364B-4ADF-9563-3D84059BD0F0}"/>
              </a:ext>
            </a:extLst>
          </p:cNvPr>
          <p:cNvSpPr>
            <a:spLocks xmlns:a="http://schemas.openxmlformats.org/drawingml/2006/main" noGrp="1"/>
          </p:cNvSpPr>
          <p:nvPr/>
        </p:nvSpPr>
        <p:spPr>
          <a:xfrm xmlns:a="http://schemas.openxmlformats.org/drawingml/2006/main">
            <a:off x="6172200" y="3714750"/>
            <a:ext cx="247650" cy="247650"/>
          </a:xfrm>
          <a:prstGeom xmlns:a="http://schemas.openxmlformats.org/drawingml/2006/main" prst="roundRect">
            <a:avLst>
              <a:gd name="adj" fmla="val 30769"/>
            </a:avLst>
          </a:prstGeom>
          <a:solidFill xmlns:a="http://schemas.openxmlformats.org/drawingml/2006/main">
            <a:srgbClr val="FDECEE"/>
          </a:solidFill>
          <a:ln xmlns:a="http://schemas.openxmlformats.org/drawingml/2006/main" w="9525">
            <a:solidFill>
              <a:srgbClr val="E56B6F"/>
            </a:solidFill>
            <a:prstDash val="solid"/>
          </a:ln>
        </p:spPr>
      </p:sp>
      <p:sp>
        <p:nvSpPr>
          <p:cNvPr id="28" name="">
            <a:extLst xmlns:a="http://schemas.openxmlformats.org/drawingml/2006/main">
              <a:ext uri="{FF2B5EF4-FFF2-40B4-BE49-F238E27FC236}">
                <a16:creationId xmlns:a16="http://schemas.microsoft.com/office/drawing/2014/main" id="{F68C534C-BF16-41C9-BF5B-C243D8C317DA}"/>
              </a:ext>
            </a:extLst>
          </p:cNvPr>
          <p:cNvSpPr>
            <a:spLocks xmlns:a="http://schemas.openxmlformats.org/drawingml/2006/main" noGrp="1"/>
          </p:cNvSpPr>
          <p:nvPr/>
        </p:nvSpPr>
        <p:spPr>
          <a:xfrm xmlns:a="http://schemas.openxmlformats.org/drawingml/2006/main">
            <a:off x="6200775" y="369570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E56B6F"/>
                </a:solidFill>
              </a:defRPr>
            </a:pPr>
            <a:r>
              <a:rPr sz="1200" b="1">
                <a:solidFill>
                  <a:srgbClr val="E56B6F"/>
                </a:solidFill>
              </a:rPr>
              <a:t>—</a:t>
            </a:r>
          </a:p>
        </p:txBody>
      </p:sp>
      <p:sp>
        <p:nvSpPr>
          <p:cNvPr id="29" name="">
            <a:extLst xmlns:a="http://schemas.openxmlformats.org/drawingml/2006/main">
              <a:ext uri="{FF2B5EF4-FFF2-40B4-BE49-F238E27FC236}">
                <a16:creationId xmlns:a16="http://schemas.microsoft.com/office/drawing/2014/main" id="{FEA5B459-ABEC-40F7-8249-64DD83B65A45}"/>
              </a:ext>
            </a:extLst>
          </p:cNvPr>
          <p:cNvSpPr>
            <a:spLocks xmlns:a="http://schemas.openxmlformats.org/drawingml/2006/main" noGrp="1"/>
          </p:cNvSpPr>
          <p:nvPr/>
        </p:nvSpPr>
        <p:spPr>
          <a:xfrm xmlns:a="http://schemas.openxmlformats.org/drawingml/2006/main">
            <a:off x="6629400" y="3686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102A43"/>
                </a:solidFill>
              </a:defRPr>
            </a:pPr>
            <a:r>
              <a:rPr sz="1575" b="0">
                <a:solidFill>
                  <a:srgbClr val="102A43"/>
                </a:solidFill>
              </a:rPr>
              <a:t>Thay thế hoàn toàn chuyên viên tuyển sinh</a:t>
            </a:r>
          </a:p>
        </p:txBody>
      </p:sp>
      <p:sp>
        <p:nvSpPr>
          <p:cNvPr id="30" name="">
            <a:extLst xmlns:a="http://schemas.openxmlformats.org/drawingml/2006/main">
              <a:ext uri="{FF2B5EF4-FFF2-40B4-BE49-F238E27FC236}">
                <a16:creationId xmlns:a16="http://schemas.microsoft.com/office/drawing/2014/main" id="{83CA7672-95D5-4815-9751-C59B5CB8375B}"/>
              </a:ext>
            </a:extLst>
          </p:cNvPr>
          <p:cNvSpPr>
            <a:spLocks xmlns:a="http://schemas.openxmlformats.org/drawingml/2006/main" noGrp="1"/>
          </p:cNvSpPr>
          <p:nvPr/>
        </p:nvSpPr>
        <p:spPr>
          <a:xfrm xmlns:a="http://schemas.openxmlformats.org/drawingml/2006/main">
            <a:off x="6172200" y="4343400"/>
            <a:ext cx="247650" cy="247650"/>
          </a:xfrm>
          <a:prstGeom xmlns:a="http://schemas.openxmlformats.org/drawingml/2006/main" prst="roundRect">
            <a:avLst>
              <a:gd name="adj" fmla="val 30769"/>
            </a:avLst>
          </a:prstGeom>
          <a:solidFill xmlns:a="http://schemas.openxmlformats.org/drawingml/2006/main">
            <a:srgbClr val="FDECEE"/>
          </a:solidFill>
          <a:ln xmlns:a="http://schemas.openxmlformats.org/drawingml/2006/main" w="9525">
            <a:solidFill>
              <a:srgbClr val="E56B6F"/>
            </a:solidFill>
            <a:prstDash val="solid"/>
          </a:ln>
        </p:spPr>
      </p:sp>
      <p:sp>
        <p:nvSpPr>
          <p:cNvPr id="31" name="">
            <a:extLst xmlns:a="http://schemas.openxmlformats.org/drawingml/2006/main">
              <a:ext uri="{FF2B5EF4-FFF2-40B4-BE49-F238E27FC236}">
                <a16:creationId xmlns:a16="http://schemas.microsoft.com/office/drawing/2014/main" id="{4BAF5441-32E3-4902-B208-CBC92C3137EE}"/>
              </a:ext>
            </a:extLst>
          </p:cNvPr>
          <p:cNvSpPr>
            <a:spLocks xmlns:a="http://schemas.openxmlformats.org/drawingml/2006/main" noGrp="1"/>
          </p:cNvSpPr>
          <p:nvPr/>
        </p:nvSpPr>
        <p:spPr>
          <a:xfrm xmlns:a="http://schemas.openxmlformats.org/drawingml/2006/main">
            <a:off x="6200775" y="432435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E56B6F"/>
                </a:solidFill>
              </a:defRPr>
            </a:pPr>
            <a:r>
              <a:rPr sz="1200" b="1">
                <a:solidFill>
                  <a:srgbClr val="E56B6F"/>
                </a:solidFill>
              </a:rPr>
              <a:t>—</a:t>
            </a:r>
          </a:p>
        </p:txBody>
      </p:sp>
      <p:sp>
        <p:nvSpPr>
          <p:cNvPr id="32" name="">
            <a:extLst xmlns:a="http://schemas.openxmlformats.org/drawingml/2006/main">
              <a:ext uri="{FF2B5EF4-FFF2-40B4-BE49-F238E27FC236}">
                <a16:creationId xmlns:a16="http://schemas.microsoft.com/office/drawing/2014/main" id="{A3F839F0-C2A0-4667-8087-C14C322EB666}"/>
              </a:ext>
            </a:extLst>
          </p:cNvPr>
          <p:cNvSpPr>
            <a:spLocks xmlns:a="http://schemas.openxmlformats.org/drawingml/2006/main" noGrp="1"/>
          </p:cNvSpPr>
          <p:nvPr/>
        </p:nvSpPr>
        <p:spPr>
          <a:xfrm xmlns:a="http://schemas.openxmlformats.org/drawingml/2006/main">
            <a:off x="6629400" y="43148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102A43"/>
                </a:solidFill>
              </a:defRPr>
            </a:pPr>
            <a:r>
              <a:rPr sz="1575" b="0">
                <a:solidFill>
                  <a:srgbClr val="102A43"/>
                </a:solidFill>
              </a:rPr>
              <a:t>Cam kết về kết quả xét tuyển</a:t>
            </a:r>
          </a:p>
        </p:txBody>
      </p:sp>
      <p:sp>
        <p:nvSpPr>
          <p:cNvPr id="33" name="">
            <a:extLst xmlns:a="http://schemas.openxmlformats.org/drawingml/2006/main">
              <a:ext uri="{FF2B5EF4-FFF2-40B4-BE49-F238E27FC236}">
                <a16:creationId xmlns:a16="http://schemas.microsoft.com/office/drawing/2014/main" id="{8906FD77-59AE-4AEC-B7B2-791F9F6AD8BA}"/>
              </a:ext>
            </a:extLst>
          </p:cNvPr>
          <p:cNvSpPr>
            <a:spLocks xmlns:a="http://schemas.openxmlformats.org/drawingml/2006/main" noGrp="1"/>
          </p:cNvSpPr>
          <p:nvPr/>
        </p:nvSpPr>
        <p:spPr>
          <a:xfrm xmlns:a="http://schemas.openxmlformats.org/drawingml/2006/main">
            <a:off x="609600" y="5753100"/>
            <a:ext cx="990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52677D"/>
                </a:solidFill>
              </a:defRPr>
            </a:pPr>
            <a:r>
              <a:rPr sz="1425" b="1">
                <a:solidFill>
                  <a:srgbClr val="52677D"/>
                </a:solidFill>
              </a:rPr>
              <a:t>Nguyên tắc: trả lời có căn cứ; khi không chắc chắn, hướng người dùng đến kênh tư vấn chính thức.</a:t>
            </a:r>
          </a:p>
        </p:txBody>
      </p:sp>
      <p:sp>
        <p:nvSpPr>
          <p:cNvPr id="34" name="">
            <a:extLst xmlns:a="http://schemas.openxmlformats.org/drawingml/2006/main">
              <a:ext uri="{FF2B5EF4-FFF2-40B4-BE49-F238E27FC236}">
                <a16:creationId xmlns:a16="http://schemas.microsoft.com/office/drawing/2014/main" id="{32C08E15-FC89-4C7E-A9BE-A82BA0D8376E}"/>
              </a:ext>
            </a:extLst>
          </p:cNvPr>
          <p:cNvSpPr>
            <a:spLocks xmlns:a="http://schemas.openxmlformats.org/drawingml/2006/main" noGrp="1"/>
          </p:cNvSpPr>
          <p:nvPr/>
        </p:nvSpPr>
        <p:spPr>
          <a:xfrm xmlns:a="http://schemas.openxmlformats.org/drawingml/2006/main">
            <a:off x="6096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0">
                <a:solidFill>
                  <a:srgbClr val="52677D"/>
                </a:solidFill>
              </a:defRPr>
            </a:pPr>
            <a:r>
              <a:rPr sz="900" b="0">
                <a:solidFill>
                  <a:srgbClr val="52677D"/>
                </a:solidFill>
              </a:rPr>
              <a:t>Đại học Công nghệ Đông Á · Hệ thống hỏi đáp tuyển sinh</a:t>
            </a:r>
          </a:p>
        </p:txBody>
      </p:sp>
      <p:sp>
        <p:nvSpPr>
          <p:cNvPr id="35" name="">
            <a:extLst xmlns:a="http://schemas.openxmlformats.org/drawingml/2006/main">
              <a:ext uri="{FF2B5EF4-FFF2-40B4-BE49-F238E27FC236}">
                <a16:creationId xmlns:a16="http://schemas.microsoft.com/office/drawing/2014/main" id="{72BFFE4E-D959-4597-8A61-8C42C27FB52D}"/>
              </a:ext>
            </a:extLst>
          </p:cNvPr>
          <p:cNvSpPr>
            <a:spLocks xmlns:a="http://schemas.openxmlformats.org/drawingml/2006/main" noGrp="1"/>
          </p:cNvSpPr>
          <p:nvPr/>
        </p:nvSpPr>
        <p:spPr>
          <a:xfrm xmlns:a="http://schemas.openxmlformats.org/drawingml/2006/main">
            <a:off x="11239500" y="64198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2677D"/>
                </a:solidFill>
              </a:defRPr>
            </a:pPr>
            <a:r>
              <a:rPr sz="900" b="1">
                <a:solidFill>
                  <a:srgbClr val="52677D"/>
                </a:solidFill>
              </a:rPr>
              <a:t>3</a:t>
            </a:r>
          </a:p>
        </p:txBody>
      </p:sp>
      <p:sp>
        <p:nvSpPr>
          <p:cNvPr id="37" name="">
            <a:extLst xmlns:a="http://schemas.openxmlformats.org/drawingml/2006/main">
              <a:ext uri="{FF2B5EF4-FFF2-40B4-BE49-F238E27FC236}">
                <a16:creationId xmlns:a16="http://schemas.microsoft.com/office/drawing/2014/main" id="{D35CBFA2-EF05-40FE-BA8B-DC4434FC4D8F}"/>
              </a:ext>
            </a:extLst>
          </p:cNvPr>
          <p:cNvSpPr>
            <a:spLocks xmlns:a="http://schemas.openxmlformats.org/drawingml/2006/main" noGrp="1"/>
          </p:cNvSpPr>
          <p:nvPr/>
        </p:nvSpPr>
        <p:spPr>
          <a:xfrm xmlns:a="http://schemas.openxmlformats.org/drawingml/2006/main">
            <a:off x="10115550" y="438150"/>
            <a:ext cx="10096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b529b629502d4b35"/>
          <a:stretch xmlns:a="http://schemas.openxmlformats.org/drawingml/2006/main"/>
        </p:blipFill>
        <p:spPr>
          <a:xfrm xmlns:a="http://schemas.openxmlformats.org/drawingml/2006/main">
            <a:off x="10286061" y="476250"/>
            <a:ext cx="668627" cy="609600"/>
          </a:xfrm>
          <a:prstGeom xmlns:a="http://schemas.openxmlformats.org/drawingml/2006/main" prst="rect">
            <a:avLst/>
          </a:prstGeom>
        </p:spPr>
      </p:pic>
      <p:sp>
        <p:nvSpPr>
          <p:cNvPr id="39" name="">
            <a:extLst xmlns:a="http://schemas.openxmlformats.org/drawingml/2006/main">
              <a:ext uri="{FF2B5EF4-FFF2-40B4-BE49-F238E27FC236}">
                <a16:creationId xmlns:a16="http://schemas.microsoft.com/office/drawing/2014/main" id="{14AA605E-1AA6-4028-BCFD-A93A1296A757}"/>
              </a:ext>
            </a:extLst>
          </p:cNvPr>
          <p:cNvSpPr>
            <a:spLocks xmlns:a="http://schemas.openxmlformats.org/drawingml/2006/main" noGrp="1"/>
          </p:cNvSpPr>
          <p:nvPr/>
        </p:nvSpPr>
        <p:spPr>
          <a:xfrm xmlns:a="http://schemas.openxmlformats.org/drawingml/2006/main">
            <a:off x="8763000" y="514350"/>
            <a:ext cx="1219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1769AA"/>
                </a:solidFill>
              </a:defRPr>
            </a:pPr>
            <a:r>
              <a:rPr sz="825" b="1">
                <a:solidFill>
                  <a:srgbClr val="1769AA"/>
                </a:solidFill>
              </a:rPr>
              <a:t>EAUT · AI ADMISSIONS</a:t>
            </a:r>
          </a:p>
        </p:txBody>
      </p:sp>
    </p:spTree>
    <p:extLst>
      <p:ext uri="{BB962C8B-B14F-4D97-AF65-F5344CB8AC3E}">
        <p14:creationId xmlns:p14="http://schemas.microsoft.com/office/powerpoint/2010/main" val="213718039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12B008A-2983-4D5C-9125-BD10814C07FD}"/>
              </a:ext>
            </a:extLst>
          </p:cNvPr>
          <p:cNvSpPr>
            <a:spLocks xmlns:a="http://schemas.openxmlformats.org/drawingml/2006/main" noGrp="1"/>
          </p:cNvSpPr>
          <p:nvPr/>
        </p:nvSpPr>
        <p:spPr>
          <a:xfrm xmlns:a="http://schemas.openxmlformats.org/drawingml/2006/main">
            <a:off x="6096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1769AA"/>
                </a:solidFill>
              </a:defRPr>
            </a:pPr>
            <a:r>
              <a:rPr sz="1050" b="1">
                <a:solidFill>
                  <a:srgbClr val="1769AA"/>
                </a:solidFill>
              </a:rPr>
              <a:t>DỰ ÁN HỌC PHẦN · TRÍ TUỆ NHÂN TẠO</a:t>
            </a:r>
          </a:p>
        </p:txBody>
      </p:sp>
      <p:sp>
        <p:nvSpPr>
          <p:cNvPr id="2" name="">
            <a:extLst xmlns:a="http://schemas.openxmlformats.org/drawingml/2006/main">
              <a:ext uri="{FF2B5EF4-FFF2-40B4-BE49-F238E27FC236}">
                <a16:creationId xmlns:a16="http://schemas.microsoft.com/office/drawing/2014/main" id="{61E6FB3F-5495-4048-A794-09FAA4D98E0E}"/>
              </a:ext>
            </a:extLst>
          </p:cNvPr>
          <p:cNvSpPr>
            <a:spLocks xmlns:a="http://schemas.openxmlformats.org/drawingml/2006/main" noGrp="1"/>
          </p:cNvSpPr>
          <p:nvPr/>
        </p:nvSpPr>
        <p:spPr>
          <a:xfrm xmlns:a="http://schemas.openxmlformats.org/drawingml/2006/main">
            <a:off x="609600" y="68580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02A43"/>
                </a:solidFill>
              </a:defRPr>
            </a:pPr>
            <a:r>
              <a:rPr sz="2700" b="1">
                <a:solidFill>
                  <a:srgbClr val="102A43"/>
                </a:solidFill>
              </a:rPr>
              <a:t>Kiến trúc kết hợp hiểu ngôn ngữ và truy xuất tri thức</a:t>
            </a:r>
          </a:p>
        </p:txBody>
      </p:sp>
      <p:sp>
        <p:nvSpPr>
          <p:cNvPr id="3" name="">
            <a:extLst xmlns:a="http://schemas.openxmlformats.org/drawingml/2006/main">
              <a:ext uri="{FF2B5EF4-FFF2-40B4-BE49-F238E27FC236}">
                <a16:creationId xmlns:a16="http://schemas.microsoft.com/office/drawing/2014/main" id="{AF781771-4C03-41C0-8143-DA99D937A590}"/>
              </a:ext>
            </a:extLst>
          </p:cNvPr>
          <p:cNvSpPr>
            <a:spLocks xmlns:a="http://schemas.openxmlformats.org/drawingml/2006/main" noGrp="1"/>
          </p:cNvSpPr>
          <p:nvPr/>
        </p:nvSpPr>
        <p:spPr>
          <a:xfrm xmlns:a="http://schemas.openxmlformats.org/drawingml/2006/main">
            <a:off x="10953750" y="36195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125" b="1">
                <a:solidFill>
                  <a:srgbClr val="52677D"/>
                </a:solidFill>
              </a:defRPr>
            </a:pPr>
            <a:r>
              <a:rPr sz="1125" b="1">
                <a:solidFill>
                  <a:srgbClr val="52677D"/>
                </a:solidFill>
              </a:rPr>
              <a:t>04</a:t>
            </a:r>
          </a:p>
        </p:txBody>
      </p:sp>
      <p:sp>
        <p:nvSpPr>
          <p:cNvPr id="4" name="">
            <a:extLst xmlns:a="http://schemas.openxmlformats.org/drawingml/2006/main">
              <a:ext uri="{FF2B5EF4-FFF2-40B4-BE49-F238E27FC236}">
                <a16:creationId xmlns:a16="http://schemas.microsoft.com/office/drawing/2014/main" id="{B8CD638E-215B-43CE-9506-D8D32B558DF9}"/>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CED9E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6579DDD-CC9E-4990-BE5C-4083372E6BE1}"/>
              </a:ext>
            </a:extLst>
          </p:cNvPr>
          <p:cNvSpPr>
            <a:spLocks xmlns:a="http://schemas.openxmlformats.org/drawingml/2006/main" noGrp="1"/>
          </p:cNvSpPr>
          <p:nvPr/>
        </p:nvSpPr>
        <p:spPr>
          <a:xfrm xmlns:a="http://schemas.openxmlformats.org/drawingml/2006/main">
            <a:off x="609600" y="2000250"/>
            <a:ext cx="2266950" cy="2876550"/>
          </a:xfrm>
          <a:prstGeom xmlns:a="http://schemas.openxmlformats.org/drawingml/2006/main" prst="roundRect">
            <a:avLst>
              <a:gd name="adj" fmla="val 3361"/>
            </a:avLst>
          </a:prstGeom>
          <a:solidFill xmlns:a="http://schemas.openxmlformats.org/drawingml/2006/main">
            <a:srgbClr val="F3F7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079EE8A-AFEC-4655-9C54-86CB7F9DAA17}"/>
              </a:ext>
            </a:extLst>
          </p:cNvPr>
          <p:cNvSpPr>
            <a:spLocks xmlns:a="http://schemas.openxmlformats.org/drawingml/2006/main" noGrp="1"/>
          </p:cNvSpPr>
          <p:nvPr/>
        </p:nvSpPr>
        <p:spPr>
          <a:xfrm xmlns:a="http://schemas.openxmlformats.org/drawingml/2006/main">
            <a:off x="609600" y="2000250"/>
            <a:ext cx="2266950" cy="590550"/>
          </a:xfrm>
          <a:prstGeom xmlns:a="http://schemas.openxmlformats.org/drawingml/2006/main" prst="roundRect">
            <a:avLst>
              <a:gd name="adj" fmla="val 12903"/>
            </a:avLst>
          </a:prstGeom>
          <a:solidFill xmlns:a="http://schemas.openxmlformats.org/drawingml/2006/main">
            <a:srgbClr val="62B6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273D9A1-2059-4086-9D17-AAC361D9CD84}"/>
              </a:ext>
            </a:extLst>
          </p:cNvPr>
          <p:cNvSpPr>
            <a:spLocks xmlns:a="http://schemas.openxmlformats.org/drawingml/2006/main" noGrp="1"/>
          </p:cNvSpPr>
          <p:nvPr/>
        </p:nvSpPr>
        <p:spPr>
          <a:xfrm xmlns:a="http://schemas.openxmlformats.org/drawingml/2006/main">
            <a:off x="762000" y="2152650"/>
            <a:ext cx="1962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0B3558"/>
                </a:solidFill>
              </a:defRPr>
            </a:pPr>
            <a:r>
              <a:rPr sz="1500" b="1">
                <a:solidFill>
                  <a:srgbClr val="0B3558"/>
                </a:solidFill>
              </a:rPr>
              <a:t>Giao diện</a:t>
            </a:r>
          </a:p>
        </p:txBody>
      </p:sp>
      <p:sp>
        <p:nvSpPr>
          <p:cNvPr id="8" name="">
            <a:extLst xmlns:a="http://schemas.openxmlformats.org/drawingml/2006/main">
              <a:ext uri="{FF2B5EF4-FFF2-40B4-BE49-F238E27FC236}">
                <a16:creationId xmlns:a16="http://schemas.microsoft.com/office/drawing/2014/main" id="{E10360FC-B772-46C3-AC80-FA0682CF709A}"/>
              </a:ext>
            </a:extLst>
          </p:cNvPr>
          <p:cNvSpPr>
            <a:spLocks xmlns:a="http://schemas.openxmlformats.org/drawingml/2006/main" noGrp="1"/>
          </p:cNvSpPr>
          <p:nvPr/>
        </p:nvSpPr>
        <p:spPr>
          <a:xfrm xmlns:a="http://schemas.openxmlformats.org/drawingml/2006/main">
            <a:off x="800100" y="2876550"/>
            <a:ext cx="1885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02A43"/>
                </a:solidFill>
              </a:defRPr>
            </a:pPr>
            <a:r>
              <a:rPr sz="1500" b="0">
                <a:solidFill>
                  <a:srgbClr val="102A43"/>
                </a:solidFill>
              </a:rPr>
              <a:t>Web chat</a:t>
            </a:r>
          </a:p>
          <a:p xmlns:a="http://schemas.openxmlformats.org/drawingml/2006/main">
            <a:pPr algn="ctr">
              <a:buNone/>
              <a:defRPr sz="1500" b="0">
                <a:solidFill>
                  <a:srgbClr val="102A43"/>
                </a:solidFill>
              </a:defRPr>
            </a:pPr>
            <a:r>
              <a:rPr sz="1500" b="0">
                <a:solidFill>
                  <a:srgbClr val="102A43"/>
                </a:solidFill>
              </a:rPr>
              <a:t>Zalo / Messenger</a:t>
            </a:r>
          </a:p>
          <a:p xmlns:a="http://schemas.openxmlformats.org/drawingml/2006/main">
            <a:pPr algn="ctr">
              <a:buNone/>
              <a:defRPr sz="1500" b="0">
                <a:solidFill>
                  <a:srgbClr val="102A43"/>
                </a:solidFill>
              </a:defRPr>
            </a:pPr>
            <a:r>
              <a:rPr sz="1500" b="0">
                <a:solidFill>
                  <a:srgbClr val="102A43"/>
                </a:solidFill>
              </a:rPr>
              <a:t>(định hướng tích hợp)</a:t>
            </a:r>
          </a:p>
        </p:txBody>
      </p:sp>
      <p:sp>
        <p:nvSpPr>
          <p:cNvPr id="9" name="">
            <a:extLst xmlns:a="http://schemas.openxmlformats.org/drawingml/2006/main">
              <a:ext uri="{FF2B5EF4-FFF2-40B4-BE49-F238E27FC236}">
                <a16:creationId xmlns:a16="http://schemas.microsoft.com/office/drawing/2014/main" id="{2B449515-CDDD-40DF-99F6-34B1B8B7A7CE}"/>
              </a:ext>
            </a:extLst>
          </p:cNvPr>
          <p:cNvSpPr>
            <a:spLocks xmlns:a="http://schemas.openxmlformats.org/drawingml/2006/main" noGrp="1"/>
          </p:cNvSpPr>
          <p:nvPr/>
        </p:nvSpPr>
        <p:spPr>
          <a:xfrm xmlns:a="http://schemas.openxmlformats.org/drawingml/2006/main">
            <a:off x="3295650" y="2000250"/>
            <a:ext cx="2266950" cy="2876550"/>
          </a:xfrm>
          <a:prstGeom xmlns:a="http://schemas.openxmlformats.org/drawingml/2006/main" prst="roundRect">
            <a:avLst>
              <a:gd name="adj" fmla="val 3361"/>
            </a:avLst>
          </a:prstGeom>
          <a:solidFill xmlns:a="http://schemas.openxmlformats.org/drawingml/2006/main">
            <a:srgbClr val="F3F7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E89F950-67A3-4290-9912-D392D5F8773F}"/>
              </a:ext>
            </a:extLst>
          </p:cNvPr>
          <p:cNvSpPr>
            <a:spLocks xmlns:a="http://schemas.openxmlformats.org/drawingml/2006/main" noGrp="1"/>
          </p:cNvSpPr>
          <p:nvPr/>
        </p:nvSpPr>
        <p:spPr>
          <a:xfrm xmlns:a="http://schemas.openxmlformats.org/drawingml/2006/main">
            <a:off x="3295650" y="2000250"/>
            <a:ext cx="2266950" cy="590550"/>
          </a:xfrm>
          <a:prstGeom xmlns:a="http://schemas.openxmlformats.org/drawingml/2006/main" prst="roundRect">
            <a:avLst>
              <a:gd name="adj" fmla="val 12903"/>
            </a:avLst>
          </a:prstGeom>
          <a:solidFill xmlns:a="http://schemas.openxmlformats.org/drawingml/2006/main">
            <a:srgbClr val="F5B94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2AF8992-D9C8-4E33-A2C1-9979C174D465}"/>
              </a:ext>
            </a:extLst>
          </p:cNvPr>
          <p:cNvSpPr>
            <a:spLocks xmlns:a="http://schemas.openxmlformats.org/drawingml/2006/main" noGrp="1"/>
          </p:cNvSpPr>
          <p:nvPr/>
        </p:nvSpPr>
        <p:spPr>
          <a:xfrm xmlns:a="http://schemas.openxmlformats.org/drawingml/2006/main">
            <a:off x="3448050" y="2152650"/>
            <a:ext cx="1962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0B3558"/>
                </a:solidFill>
              </a:defRPr>
            </a:pPr>
            <a:r>
              <a:rPr sz="1500" b="1">
                <a:solidFill>
                  <a:srgbClr val="0B3558"/>
                </a:solidFill>
              </a:rPr>
              <a:t>Xử lý ngôn ngữ</a:t>
            </a:r>
          </a:p>
        </p:txBody>
      </p:sp>
      <p:sp>
        <p:nvSpPr>
          <p:cNvPr id="12" name="">
            <a:extLst xmlns:a="http://schemas.openxmlformats.org/drawingml/2006/main">
              <a:ext uri="{FF2B5EF4-FFF2-40B4-BE49-F238E27FC236}">
                <a16:creationId xmlns:a16="http://schemas.microsoft.com/office/drawing/2014/main" id="{4F8248A7-7152-44CE-BECA-595C1CB4DC61}"/>
              </a:ext>
            </a:extLst>
          </p:cNvPr>
          <p:cNvSpPr>
            <a:spLocks xmlns:a="http://schemas.openxmlformats.org/drawingml/2006/main" noGrp="1"/>
          </p:cNvSpPr>
          <p:nvPr/>
        </p:nvSpPr>
        <p:spPr>
          <a:xfrm xmlns:a="http://schemas.openxmlformats.org/drawingml/2006/main">
            <a:off x="3486150" y="2876550"/>
            <a:ext cx="1885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02A43"/>
                </a:solidFill>
              </a:defRPr>
            </a:pPr>
            <a:r>
              <a:rPr sz="1500" b="0">
                <a:solidFill>
                  <a:srgbClr val="102A43"/>
                </a:solidFill>
              </a:rPr>
              <a:t>Chuẩn hoá tiếng Việt</a:t>
            </a:r>
          </a:p>
          <a:p xmlns:a="http://schemas.openxmlformats.org/drawingml/2006/main">
            <a:pPr algn="ctr">
              <a:buNone/>
              <a:defRPr sz="1500" b="0">
                <a:solidFill>
                  <a:srgbClr val="102A43"/>
                </a:solidFill>
              </a:defRPr>
            </a:pPr>
            <a:r>
              <a:rPr sz="1500" b="0">
                <a:solidFill>
                  <a:srgbClr val="102A43"/>
                </a:solidFill>
              </a:rPr>
              <a:t>Nhận diện ý định</a:t>
            </a:r>
          </a:p>
          <a:p xmlns:a="http://schemas.openxmlformats.org/drawingml/2006/main">
            <a:pPr algn="ctr">
              <a:buNone/>
              <a:defRPr sz="1500" b="0">
                <a:solidFill>
                  <a:srgbClr val="102A43"/>
                </a:solidFill>
              </a:defRPr>
            </a:pPr>
            <a:r>
              <a:rPr sz="1500" b="0">
                <a:solidFill>
                  <a:srgbClr val="102A43"/>
                </a:solidFill>
              </a:rPr>
              <a:t>Trích xuất thực thể</a:t>
            </a:r>
          </a:p>
        </p:txBody>
      </p:sp>
      <p:sp>
        <p:nvSpPr>
          <p:cNvPr id="13" name="">
            <a:extLst xmlns:a="http://schemas.openxmlformats.org/drawingml/2006/main">
              <a:ext uri="{FF2B5EF4-FFF2-40B4-BE49-F238E27FC236}">
                <a16:creationId xmlns:a16="http://schemas.microsoft.com/office/drawing/2014/main" id="{8FBDFAAC-07AA-4F77-9F13-123D7CA4ACEC}"/>
              </a:ext>
            </a:extLst>
          </p:cNvPr>
          <p:cNvSpPr>
            <a:spLocks xmlns:a="http://schemas.openxmlformats.org/drawingml/2006/main" noGrp="1"/>
          </p:cNvSpPr>
          <p:nvPr/>
        </p:nvSpPr>
        <p:spPr>
          <a:xfrm xmlns:a="http://schemas.openxmlformats.org/drawingml/2006/main">
            <a:off x="5981700" y="2000250"/>
            <a:ext cx="2266950" cy="2876550"/>
          </a:xfrm>
          <a:prstGeom xmlns:a="http://schemas.openxmlformats.org/drawingml/2006/main" prst="roundRect">
            <a:avLst>
              <a:gd name="adj" fmla="val 3361"/>
            </a:avLst>
          </a:prstGeom>
          <a:solidFill xmlns:a="http://schemas.openxmlformats.org/drawingml/2006/main">
            <a:srgbClr val="F3F7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456829B-4661-413C-804D-3A2AC3CD05A4}"/>
              </a:ext>
            </a:extLst>
          </p:cNvPr>
          <p:cNvSpPr>
            <a:spLocks xmlns:a="http://schemas.openxmlformats.org/drawingml/2006/main" noGrp="1"/>
          </p:cNvSpPr>
          <p:nvPr/>
        </p:nvSpPr>
        <p:spPr>
          <a:xfrm xmlns:a="http://schemas.openxmlformats.org/drawingml/2006/main">
            <a:off x="5981700" y="2000250"/>
            <a:ext cx="2266950" cy="590550"/>
          </a:xfrm>
          <a:prstGeom xmlns:a="http://schemas.openxmlformats.org/drawingml/2006/main" prst="roundRect">
            <a:avLst>
              <a:gd name="adj" fmla="val 12903"/>
            </a:avLst>
          </a:prstGeom>
          <a:solidFill xmlns:a="http://schemas.openxmlformats.org/drawingml/2006/main">
            <a:srgbClr val="46A37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FFC1E4-2C75-4227-B7D8-18212DA5E768}"/>
              </a:ext>
            </a:extLst>
          </p:cNvPr>
          <p:cNvSpPr>
            <a:spLocks xmlns:a="http://schemas.openxmlformats.org/drawingml/2006/main" noGrp="1"/>
          </p:cNvSpPr>
          <p:nvPr/>
        </p:nvSpPr>
        <p:spPr>
          <a:xfrm xmlns:a="http://schemas.openxmlformats.org/drawingml/2006/main">
            <a:off x="6134100" y="2152650"/>
            <a:ext cx="1962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0B3558"/>
                </a:solidFill>
              </a:defRPr>
            </a:pPr>
            <a:r>
              <a:rPr sz="1500" b="1">
                <a:solidFill>
                  <a:srgbClr val="0B3558"/>
                </a:solidFill>
              </a:rPr>
              <a:t>Tri thức</a:t>
            </a:r>
          </a:p>
        </p:txBody>
      </p:sp>
      <p:sp>
        <p:nvSpPr>
          <p:cNvPr id="16" name="">
            <a:extLst xmlns:a="http://schemas.openxmlformats.org/drawingml/2006/main">
              <a:ext uri="{FF2B5EF4-FFF2-40B4-BE49-F238E27FC236}">
                <a16:creationId xmlns:a16="http://schemas.microsoft.com/office/drawing/2014/main" id="{C3524AA8-E825-4B75-AA11-A22D6EB31461}"/>
              </a:ext>
            </a:extLst>
          </p:cNvPr>
          <p:cNvSpPr>
            <a:spLocks xmlns:a="http://schemas.openxmlformats.org/drawingml/2006/main" noGrp="1"/>
          </p:cNvSpPr>
          <p:nvPr/>
        </p:nvSpPr>
        <p:spPr>
          <a:xfrm xmlns:a="http://schemas.openxmlformats.org/drawingml/2006/main">
            <a:off x="6172200" y="2876550"/>
            <a:ext cx="1885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02A43"/>
                </a:solidFill>
              </a:defRPr>
            </a:pPr>
            <a:r>
              <a:rPr sz="1500" b="0">
                <a:solidFill>
                  <a:srgbClr val="102A43"/>
                </a:solidFill>
              </a:rPr>
              <a:t>FAQ tuyển sinh</a:t>
            </a:r>
          </a:p>
          <a:p xmlns:a="http://schemas.openxmlformats.org/drawingml/2006/main">
            <a:pPr algn="ctr">
              <a:buNone/>
              <a:defRPr sz="1500" b="0">
                <a:solidFill>
                  <a:srgbClr val="102A43"/>
                </a:solidFill>
              </a:defRPr>
            </a:pPr>
            <a:r>
              <a:rPr sz="1500" b="0">
                <a:solidFill>
                  <a:srgbClr val="102A43"/>
                </a:solidFill>
              </a:rPr>
              <a:t>Văn bản quy định</a:t>
            </a:r>
          </a:p>
          <a:p xmlns:a="http://schemas.openxmlformats.org/drawingml/2006/main">
            <a:pPr algn="ctr">
              <a:buNone/>
              <a:defRPr sz="1500" b="0">
                <a:solidFill>
                  <a:srgbClr val="102A43"/>
                </a:solidFill>
              </a:defRPr>
            </a:pPr>
            <a:r>
              <a:rPr sz="1500" b="0">
                <a:solidFill>
                  <a:srgbClr val="102A43"/>
                </a:solidFill>
              </a:rPr>
              <a:t>Cơ sở dữ liệu ngành</a:t>
            </a:r>
          </a:p>
        </p:txBody>
      </p:sp>
      <p:sp>
        <p:nvSpPr>
          <p:cNvPr id="17" name="">
            <a:extLst xmlns:a="http://schemas.openxmlformats.org/drawingml/2006/main">
              <a:ext uri="{FF2B5EF4-FFF2-40B4-BE49-F238E27FC236}">
                <a16:creationId xmlns:a16="http://schemas.microsoft.com/office/drawing/2014/main" id="{0B979B60-D873-45DB-B62C-E60207D1EA40}"/>
              </a:ext>
            </a:extLst>
          </p:cNvPr>
          <p:cNvSpPr>
            <a:spLocks xmlns:a="http://schemas.openxmlformats.org/drawingml/2006/main" noGrp="1"/>
          </p:cNvSpPr>
          <p:nvPr/>
        </p:nvSpPr>
        <p:spPr>
          <a:xfrm xmlns:a="http://schemas.openxmlformats.org/drawingml/2006/main">
            <a:off x="8667750" y="2000250"/>
            <a:ext cx="2266950" cy="2876550"/>
          </a:xfrm>
          <a:prstGeom xmlns:a="http://schemas.openxmlformats.org/drawingml/2006/main" prst="roundRect">
            <a:avLst>
              <a:gd name="adj" fmla="val 3361"/>
            </a:avLst>
          </a:prstGeom>
          <a:solidFill xmlns:a="http://schemas.openxmlformats.org/drawingml/2006/main">
            <a:srgbClr val="F3F7F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4192FAB-74B6-44D8-97A7-96E610459DDB}"/>
              </a:ext>
            </a:extLst>
          </p:cNvPr>
          <p:cNvSpPr>
            <a:spLocks xmlns:a="http://schemas.openxmlformats.org/drawingml/2006/main" noGrp="1"/>
          </p:cNvSpPr>
          <p:nvPr/>
        </p:nvSpPr>
        <p:spPr>
          <a:xfrm xmlns:a="http://schemas.openxmlformats.org/drawingml/2006/main">
            <a:off x="8667750" y="2000250"/>
            <a:ext cx="2266950" cy="590550"/>
          </a:xfrm>
          <a:prstGeom xmlns:a="http://schemas.openxmlformats.org/drawingml/2006/main" prst="roundRect">
            <a:avLst>
              <a:gd name="adj" fmla="val 12903"/>
            </a:avLst>
          </a:prstGeom>
          <a:solidFill xmlns:a="http://schemas.openxmlformats.org/drawingml/2006/main">
            <a:srgbClr val="1769A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7A0EC8B-79EF-47CF-BA3D-8148770502F0}"/>
              </a:ext>
            </a:extLst>
          </p:cNvPr>
          <p:cNvSpPr>
            <a:spLocks xmlns:a="http://schemas.openxmlformats.org/drawingml/2006/main" noGrp="1"/>
          </p:cNvSpPr>
          <p:nvPr/>
        </p:nvSpPr>
        <p:spPr>
          <a:xfrm xmlns:a="http://schemas.openxmlformats.org/drawingml/2006/main">
            <a:off x="8820150" y="2152650"/>
            <a:ext cx="1962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0B3558"/>
                </a:solidFill>
              </a:defRPr>
            </a:pPr>
            <a:r>
              <a:rPr sz="1500" b="1">
                <a:solidFill>
                  <a:srgbClr val="0B3558"/>
                </a:solidFill>
              </a:rPr>
              <a:t>Phản hồi</a:t>
            </a:r>
          </a:p>
        </p:txBody>
      </p:sp>
      <p:sp>
        <p:nvSpPr>
          <p:cNvPr id="20" name="">
            <a:extLst xmlns:a="http://schemas.openxmlformats.org/drawingml/2006/main">
              <a:ext uri="{FF2B5EF4-FFF2-40B4-BE49-F238E27FC236}">
                <a16:creationId xmlns:a16="http://schemas.microsoft.com/office/drawing/2014/main" id="{3E3872A2-9EA2-4A49-A3BC-54C9AD49B2CC}"/>
              </a:ext>
            </a:extLst>
          </p:cNvPr>
          <p:cNvSpPr>
            <a:spLocks xmlns:a="http://schemas.openxmlformats.org/drawingml/2006/main" noGrp="1"/>
          </p:cNvSpPr>
          <p:nvPr/>
        </p:nvSpPr>
        <p:spPr>
          <a:xfrm xmlns:a="http://schemas.openxmlformats.org/drawingml/2006/main">
            <a:off x="8858250" y="2876550"/>
            <a:ext cx="1885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02A43"/>
                </a:solidFill>
              </a:defRPr>
            </a:pPr>
            <a:r>
              <a:rPr sz="1500" b="0">
                <a:solidFill>
                  <a:srgbClr val="102A43"/>
                </a:solidFill>
              </a:rPr>
              <a:t>Sinh câu trả lời</a:t>
            </a:r>
          </a:p>
          <a:p xmlns:a="http://schemas.openxmlformats.org/drawingml/2006/main">
            <a:pPr algn="ctr">
              <a:buNone/>
              <a:defRPr sz="1500" b="0">
                <a:solidFill>
                  <a:srgbClr val="102A43"/>
                </a:solidFill>
              </a:defRPr>
            </a:pPr>
            <a:r>
              <a:rPr sz="1500" b="0">
                <a:solidFill>
                  <a:srgbClr val="102A43"/>
                </a:solidFill>
              </a:rPr>
              <a:t>Nguồn tham chiếu</a:t>
            </a:r>
          </a:p>
          <a:p xmlns:a="http://schemas.openxmlformats.org/drawingml/2006/main">
            <a:pPr algn="ctr">
              <a:buNone/>
              <a:defRPr sz="1500" b="0">
                <a:solidFill>
                  <a:srgbClr val="102A43"/>
                </a:solidFill>
              </a:defRPr>
            </a:pPr>
            <a:r>
              <a:rPr sz="1500" b="0">
                <a:solidFill>
                  <a:srgbClr val="102A43"/>
                </a:solidFill>
              </a:rPr>
              <a:t>Chuyển tư vấn viên</a:t>
            </a:r>
          </a:p>
        </p:txBody>
      </p:sp>
      <p:sp>
        <p:nvSpPr>
          <p:cNvPr id="21" name="">
            <a:extLst xmlns:a="http://schemas.openxmlformats.org/drawingml/2006/main">
              <a:ext uri="{FF2B5EF4-FFF2-40B4-BE49-F238E27FC236}">
                <a16:creationId xmlns:a16="http://schemas.microsoft.com/office/drawing/2014/main" id="{FA1608B6-FDCC-4606-AED4-637838301E63}"/>
              </a:ext>
            </a:extLst>
          </p:cNvPr>
          <p:cNvSpPr>
            <a:spLocks xmlns:a="http://schemas.openxmlformats.org/drawingml/2006/main" noGrp="1"/>
          </p:cNvSpPr>
          <p:nvPr/>
        </p:nvSpPr>
        <p:spPr>
          <a:xfrm xmlns:a="http://schemas.openxmlformats.org/drawingml/2006/main">
            <a:off x="609600" y="5467350"/>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52677D"/>
                </a:solidFill>
              </a:defRPr>
            </a:pPr>
            <a:r>
              <a:rPr sz="1500" b="0">
                <a:solidFill>
                  <a:srgbClr val="52677D"/>
                </a:solidFill>
              </a:rPr>
              <a:t>Gợi ý triển khai: Python/FastAPI · mô hình embedding/LLM · vector database · PostgreSQL · Docker</a:t>
            </a:r>
          </a:p>
        </p:txBody>
      </p:sp>
      <p:sp>
        <p:nvSpPr>
          <p:cNvPr id="22" name="">
            <a:extLst xmlns:a="http://schemas.openxmlformats.org/drawingml/2006/main">
              <a:ext uri="{FF2B5EF4-FFF2-40B4-BE49-F238E27FC236}">
                <a16:creationId xmlns:a16="http://schemas.microsoft.com/office/drawing/2014/main" id="{5C85D0F6-CB37-4848-8231-FCEBDD7A26DF}"/>
              </a:ext>
            </a:extLst>
          </p:cNvPr>
          <p:cNvSpPr>
            <a:spLocks xmlns:a="http://schemas.openxmlformats.org/drawingml/2006/main" noGrp="1"/>
          </p:cNvSpPr>
          <p:nvPr/>
        </p:nvSpPr>
        <p:spPr>
          <a:xfrm xmlns:a="http://schemas.openxmlformats.org/drawingml/2006/main">
            <a:off x="6096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0">
                <a:solidFill>
                  <a:srgbClr val="52677D"/>
                </a:solidFill>
              </a:defRPr>
            </a:pPr>
            <a:r>
              <a:rPr sz="900" b="0">
                <a:solidFill>
                  <a:srgbClr val="52677D"/>
                </a:solidFill>
              </a:rPr>
              <a:t>Đại học Công nghệ Đông Á · Hệ thống hỏi đáp tuyển sinh</a:t>
            </a:r>
          </a:p>
        </p:txBody>
      </p:sp>
      <p:sp>
        <p:nvSpPr>
          <p:cNvPr id="23" name="">
            <a:extLst xmlns:a="http://schemas.openxmlformats.org/drawingml/2006/main">
              <a:ext uri="{FF2B5EF4-FFF2-40B4-BE49-F238E27FC236}">
                <a16:creationId xmlns:a16="http://schemas.microsoft.com/office/drawing/2014/main" id="{FBA5BAE8-F6A9-4DBB-90A9-46C93504DDB9}"/>
              </a:ext>
            </a:extLst>
          </p:cNvPr>
          <p:cNvSpPr>
            <a:spLocks xmlns:a="http://schemas.openxmlformats.org/drawingml/2006/main" noGrp="1"/>
          </p:cNvSpPr>
          <p:nvPr/>
        </p:nvSpPr>
        <p:spPr>
          <a:xfrm xmlns:a="http://schemas.openxmlformats.org/drawingml/2006/main">
            <a:off x="11239500" y="64198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2677D"/>
                </a:solidFill>
              </a:defRPr>
            </a:pPr>
            <a:r>
              <a:rPr sz="900" b="1">
                <a:solidFill>
                  <a:srgbClr val="52677D"/>
                </a:solidFill>
              </a:rPr>
              <a:t>4</a:t>
            </a:r>
          </a:p>
        </p:txBody>
      </p:sp>
      <p:sp>
        <p:nvSpPr>
          <p:cNvPr id="25" name="">
            <a:extLst xmlns:a="http://schemas.openxmlformats.org/drawingml/2006/main">
              <a:ext uri="{FF2B5EF4-FFF2-40B4-BE49-F238E27FC236}">
                <a16:creationId xmlns:a16="http://schemas.microsoft.com/office/drawing/2014/main" id="{293FFCF2-F5FF-4F0F-9FA5-F05619003F05}"/>
              </a:ext>
            </a:extLst>
          </p:cNvPr>
          <p:cNvSpPr>
            <a:spLocks xmlns:a="http://schemas.openxmlformats.org/drawingml/2006/main" noGrp="1"/>
          </p:cNvSpPr>
          <p:nvPr/>
        </p:nvSpPr>
        <p:spPr>
          <a:xfrm xmlns:a="http://schemas.openxmlformats.org/drawingml/2006/main">
            <a:off x="10115550" y="438150"/>
            <a:ext cx="10096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01af7d0b708c4845"/>
          <a:stretch xmlns:a="http://schemas.openxmlformats.org/drawingml/2006/main"/>
        </p:blipFill>
        <p:spPr>
          <a:xfrm xmlns:a="http://schemas.openxmlformats.org/drawingml/2006/main">
            <a:off x="10286061" y="476250"/>
            <a:ext cx="668627" cy="6096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858A1C4C-547E-4DA9-ABC7-7035EBEA20CC}"/>
              </a:ext>
            </a:extLst>
          </p:cNvPr>
          <p:cNvSpPr>
            <a:spLocks xmlns:a="http://schemas.openxmlformats.org/drawingml/2006/main" noGrp="1"/>
          </p:cNvSpPr>
          <p:nvPr/>
        </p:nvSpPr>
        <p:spPr>
          <a:xfrm xmlns:a="http://schemas.openxmlformats.org/drawingml/2006/main">
            <a:off x="8763000" y="514350"/>
            <a:ext cx="1219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1769AA"/>
                </a:solidFill>
              </a:defRPr>
            </a:pPr>
            <a:r>
              <a:rPr sz="825" b="1">
                <a:solidFill>
                  <a:srgbClr val="1769AA"/>
                </a:solidFill>
              </a:rPr>
              <a:t>EAUT · AI ADMISSIONS</a:t>
            </a:r>
          </a:p>
        </p:txBody>
      </p:sp>
    </p:spTree>
    <p:extLst>
      <p:ext uri="{BB962C8B-B14F-4D97-AF65-F5344CB8AC3E}">
        <p14:creationId xmlns:p14="http://schemas.microsoft.com/office/powerpoint/2010/main" val="165050446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E62C771-22B4-4191-86BF-A6103193BF28}"/>
              </a:ext>
            </a:extLst>
          </p:cNvPr>
          <p:cNvSpPr>
            <a:spLocks xmlns:a="http://schemas.openxmlformats.org/drawingml/2006/main" noGrp="1"/>
          </p:cNvSpPr>
          <p:nvPr/>
        </p:nvSpPr>
        <p:spPr>
          <a:xfrm xmlns:a="http://schemas.openxmlformats.org/drawingml/2006/main">
            <a:off x="6096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1769AA"/>
                </a:solidFill>
              </a:defRPr>
            </a:pPr>
            <a:r>
              <a:rPr sz="1050" b="1">
                <a:solidFill>
                  <a:srgbClr val="1769AA"/>
                </a:solidFill>
              </a:rPr>
              <a:t>DỰ ÁN HỌC PHẦN · TRÍ TUỆ NHÂN TẠO</a:t>
            </a:r>
          </a:p>
        </p:txBody>
      </p:sp>
      <p:sp>
        <p:nvSpPr>
          <p:cNvPr id="2" name="">
            <a:extLst xmlns:a="http://schemas.openxmlformats.org/drawingml/2006/main">
              <a:ext uri="{FF2B5EF4-FFF2-40B4-BE49-F238E27FC236}">
                <a16:creationId xmlns:a16="http://schemas.microsoft.com/office/drawing/2014/main" id="{E7775E90-84D3-4553-8ADA-A9CAABE10BFA}"/>
              </a:ext>
            </a:extLst>
          </p:cNvPr>
          <p:cNvSpPr>
            <a:spLocks xmlns:a="http://schemas.openxmlformats.org/drawingml/2006/main" noGrp="1"/>
          </p:cNvSpPr>
          <p:nvPr/>
        </p:nvSpPr>
        <p:spPr>
          <a:xfrm xmlns:a="http://schemas.openxmlformats.org/drawingml/2006/main">
            <a:off x="609600" y="68580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02A43"/>
                </a:solidFill>
              </a:defRPr>
            </a:pPr>
            <a:r>
              <a:rPr sz="2700" b="1">
                <a:solidFill>
                  <a:srgbClr val="102A43"/>
                </a:solidFill>
              </a:rPr>
              <a:t>Luồng xử lý biến câu hỏi tự nhiên thành câu trả lời có căn cứ</a:t>
            </a:r>
          </a:p>
        </p:txBody>
      </p:sp>
      <p:sp>
        <p:nvSpPr>
          <p:cNvPr id="3" name="">
            <a:extLst xmlns:a="http://schemas.openxmlformats.org/drawingml/2006/main">
              <a:ext uri="{FF2B5EF4-FFF2-40B4-BE49-F238E27FC236}">
                <a16:creationId xmlns:a16="http://schemas.microsoft.com/office/drawing/2014/main" id="{82BCF4AB-3B19-49D6-AD3F-FF09478AC9AB}"/>
              </a:ext>
            </a:extLst>
          </p:cNvPr>
          <p:cNvSpPr>
            <a:spLocks xmlns:a="http://schemas.openxmlformats.org/drawingml/2006/main" noGrp="1"/>
          </p:cNvSpPr>
          <p:nvPr/>
        </p:nvSpPr>
        <p:spPr>
          <a:xfrm xmlns:a="http://schemas.openxmlformats.org/drawingml/2006/main">
            <a:off x="10953750" y="36195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125" b="1">
                <a:solidFill>
                  <a:srgbClr val="52677D"/>
                </a:solidFill>
              </a:defRPr>
            </a:pPr>
            <a:r>
              <a:rPr sz="1125" b="1">
                <a:solidFill>
                  <a:srgbClr val="52677D"/>
                </a:solidFill>
              </a:rPr>
              <a:t>05</a:t>
            </a:r>
          </a:p>
        </p:txBody>
      </p:sp>
      <p:sp>
        <p:nvSpPr>
          <p:cNvPr id="4" name="">
            <a:extLst xmlns:a="http://schemas.openxmlformats.org/drawingml/2006/main">
              <a:ext uri="{FF2B5EF4-FFF2-40B4-BE49-F238E27FC236}">
                <a16:creationId xmlns:a16="http://schemas.microsoft.com/office/drawing/2014/main" id="{DB1CA8ED-6CA6-4587-A2DF-AB7EDD1FB883}"/>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CED9E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30BDCDE-A1AA-4BE0-83B5-B72248A27FED}"/>
              </a:ext>
            </a:extLst>
          </p:cNvPr>
          <p:cNvSpPr>
            <a:spLocks xmlns:a="http://schemas.openxmlformats.org/drawingml/2006/main" noGrp="1"/>
          </p:cNvSpPr>
          <p:nvPr/>
        </p:nvSpPr>
        <p:spPr>
          <a:xfrm xmlns:a="http://schemas.openxmlformats.org/drawingml/2006/main">
            <a:off x="2286000" y="3209925"/>
            <a:ext cx="571500" cy="38100"/>
          </a:xfrm>
          <a:prstGeom xmlns:a="http://schemas.openxmlformats.org/drawingml/2006/main" prst="rect">
            <a:avLst/>
          </a:prstGeom>
          <a:solidFill xmlns:a="http://schemas.openxmlformats.org/drawingml/2006/main">
            <a:srgbClr val="CED9E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586F8F6-3963-4A64-B578-866FBDBF9384}"/>
              </a:ext>
            </a:extLst>
          </p:cNvPr>
          <p:cNvSpPr>
            <a:spLocks xmlns:a="http://schemas.openxmlformats.org/drawingml/2006/main" noGrp="1"/>
          </p:cNvSpPr>
          <p:nvPr/>
        </p:nvSpPr>
        <p:spPr>
          <a:xfrm xmlns:a="http://schemas.openxmlformats.org/drawingml/2006/main">
            <a:off x="2409825" y="29432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52677D"/>
                </a:solidFill>
              </a:defRPr>
            </a:pPr>
            <a:r>
              <a:rPr sz="1950" b="1">
                <a:solidFill>
                  <a:srgbClr val="52677D"/>
                </a:solidFill>
              </a:rPr>
              <a:t>›</a:t>
            </a:r>
          </a:p>
        </p:txBody>
      </p:sp>
      <p:sp>
        <p:nvSpPr>
          <p:cNvPr id="7" name="">
            <a:extLst xmlns:a="http://schemas.openxmlformats.org/drawingml/2006/main">
              <a:ext uri="{FF2B5EF4-FFF2-40B4-BE49-F238E27FC236}">
                <a16:creationId xmlns:a16="http://schemas.microsoft.com/office/drawing/2014/main" id="{D6EC939D-E9F6-41E4-8833-53D5E227E4CE}"/>
              </a:ext>
            </a:extLst>
          </p:cNvPr>
          <p:cNvSpPr>
            <a:spLocks xmlns:a="http://schemas.openxmlformats.org/drawingml/2006/main" noGrp="1"/>
          </p:cNvSpPr>
          <p:nvPr/>
        </p:nvSpPr>
        <p:spPr>
          <a:xfrm xmlns:a="http://schemas.openxmlformats.org/drawingml/2006/main">
            <a:off x="4533900" y="3209925"/>
            <a:ext cx="571500" cy="38100"/>
          </a:xfrm>
          <a:prstGeom xmlns:a="http://schemas.openxmlformats.org/drawingml/2006/main" prst="rect">
            <a:avLst/>
          </a:prstGeom>
          <a:solidFill xmlns:a="http://schemas.openxmlformats.org/drawingml/2006/main">
            <a:srgbClr val="CED9E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65CB655-2B9A-4F82-BA73-189EBDB1526C}"/>
              </a:ext>
            </a:extLst>
          </p:cNvPr>
          <p:cNvSpPr>
            <a:spLocks xmlns:a="http://schemas.openxmlformats.org/drawingml/2006/main" noGrp="1"/>
          </p:cNvSpPr>
          <p:nvPr/>
        </p:nvSpPr>
        <p:spPr>
          <a:xfrm xmlns:a="http://schemas.openxmlformats.org/drawingml/2006/main">
            <a:off x="4657725" y="29432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52677D"/>
                </a:solidFill>
              </a:defRPr>
            </a:pPr>
            <a:r>
              <a:rPr sz="1950" b="1">
                <a:solidFill>
                  <a:srgbClr val="52677D"/>
                </a:solidFill>
              </a:rPr>
              <a:t>›</a:t>
            </a:r>
          </a:p>
        </p:txBody>
      </p:sp>
      <p:sp>
        <p:nvSpPr>
          <p:cNvPr id="9" name="">
            <a:extLst xmlns:a="http://schemas.openxmlformats.org/drawingml/2006/main">
              <a:ext uri="{FF2B5EF4-FFF2-40B4-BE49-F238E27FC236}">
                <a16:creationId xmlns:a16="http://schemas.microsoft.com/office/drawing/2014/main" id="{D0A2DD10-7477-4036-8BA9-2BCA5D5F5FB3}"/>
              </a:ext>
            </a:extLst>
          </p:cNvPr>
          <p:cNvSpPr>
            <a:spLocks xmlns:a="http://schemas.openxmlformats.org/drawingml/2006/main" noGrp="1"/>
          </p:cNvSpPr>
          <p:nvPr/>
        </p:nvSpPr>
        <p:spPr>
          <a:xfrm xmlns:a="http://schemas.openxmlformats.org/drawingml/2006/main">
            <a:off x="6781800" y="3209925"/>
            <a:ext cx="571500" cy="38100"/>
          </a:xfrm>
          <a:prstGeom xmlns:a="http://schemas.openxmlformats.org/drawingml/2006/main" prst="rect">
            <a:avLst/>
          </a:prstGeom>
          <a:solidFill xmlns:a="http://schemas.openxmlformats.org/drawingml/2006/main">
            <a:srgbClr val="CED9E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0330D19-ABD2-4923-B0AE-9B3093A2E32E}"/>
              </a:ext>
            </a:extLst>
          </p:cNvPr>
          <p:cNvSpPr>
            <a:spLocks xmlns:a="http://schemas.openxmlformats.org/drawingml/2006/main" noGrp="1"/>
          </p:cNvSpPr>
          <p:nvPr/>
        </p:nvSpPr>
        <p:spPr>
          <a:xfrm xmlns:a="http://schemas.openxmlformats.org/drawingml/2006/main">
            <a:off x="6905625" y="29432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52677D"/>
                </a:solidFill>
              </a:defRPr>
            </a:pPr>
            <a:r>
              <a:rPr sz="1950" b="1">
                <a:solidFill>
                  <a:srgbClr val="52677D"/>
                </a:solidFill>
              </a:rPr>
              <a:t>›</a:t>
            </a:r>
          </a:p>
        </p:txBody>
      </p:sp>
      <p:sp>
        <p:nvSpPr>
          <p:cNvPr id="11" name="">
            <a:extLst xmlns:a="http://schemas.openxmlformats.org/drawingml/2006/main">
              <a:ext uri="{FF2B5EF4-FFF2-40B4-BE49-F238E27FC236}">
                <a16:creationId xmlns:a16="http://schemas.microsoft.com/office/drawing/2014/main" id="{D856C327-E5E6-4FE2-9C18-E59A004FA6D1}"/>
              </a:ext>
            </a:extLst>
          </p:cNvPr>
          <p:cNvSpPr>
            <a:spLocks xmlns:a="http://schemas.openxmlformats.org/drawingml/2006/main" noGrp="1"/>
          </p:cNvSpPr>
          <p:nvPr/>
        </p:nvSpPr>
        <p:spPr>
          <a:xfrm xmlns:a="http://schemas.openxmlformats.org/drawingml/2006/main">
            <a:off x="9029700" y="3209925"/>
            <a:ext cx="571500" cy="38100"/>
          </a:xfrm>
          <a:prstGeom xmlns:a="http://schemas.openxmlformats.org/drawingml/2006/main" prst="rect">
            <a:avLst/>
          </a:prstGeom>
          <a:solidFill xmlns:a="http://schemas.openxmlformats.org/drawingml/2006/main">
            <a:srgbClr val="CED9E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1E92884-A0B0-43E0-9185-9F8AD9AA00C3}"/>
              </a:ext>
            </a:extLst>
          </p:cNvPr>
          <p:cNvSpPr>
            <a:spLocks xmlns:a="http://schemas.openxmlformats.org/drawingml/2006/main" noGrp="1"/>
          </p:cNvSpPr>
          <p:nvPr/>
        </p:nvSpPr>
        <p:spPr>
          <a:xfrm xmlns:a="http://schemas.openxmlformats.org/drawingml/2006/main">
            <a:off x="9153525" y="29432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52677D"/>
                </a:solidFill>
              </a:defRPr>
            </a:pPr>
            <a:r>
              <a:rPr sz="1950" b="1">
                <a:solidFill>
                  <a:srgbClr val="52677D"/>
                </a:solidFill>
              </a:rPr>
              <a:t>›</a:t>
            </a:r>
          </a:p>
        </p:txBody>
      </p:sp>
      <p:sp>
        <p:nvSpPr>
          <p:cNvPr id="13" name="">
            <a:extLst xmlns:a="http://schemas.openxmlformats.org/drawingml/2006/main">
              <a:ext uri="{FF2B5EF4-FFF2-40B4-BE49-F238E27FC236}">
                <a16:creationId xmlns:a16="http://schemas.microsoft.com/office/drawing/2014/main" id="{AED7322B-3D07-4F10-9B1F-DB05A4E6DFB4}"/>
              </a:ext>
            </a:extLst>
          </p:cNvPr>
          <p:cNvSpPr>
            <a:spLocks xmlns:a="http://schemas.openxmlformats.org/drawingml/2006/main" noGrp="1"/>
          </p:cNvSpPr>
          <p:nvPr/>
        </p:nvSpPr>
        <p:spPr>
          <a:xfrm xmlns:a="http://schemas.openxmlformats.org/drawingml/2006/main">
            <a:off x="609600" y="2647950"/>
            <a:ext cx="1638300" cy="1123950"/>
          </a:xfrm>
          <a:prstGeom xmlns:a="http://schemas.openxmlformats.org/drawingml/2006/main" prst="roundRect">
            <a:avLst>
              <a:gd name="adj" fmla="val 6780"/>
            </a:avLst>
          </a:prstGeom>
          <a:solidFill xmlns:a="http://schemas.openxmlformats.org/drawingml/2006/main">
            <a:srgbClr val="62B6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8DDF655-CD9E-40D3-9CA0-A296E09A6A05}"/>
              </a:ext>
            </a:extLst>
          </p:cNvPr>
          <p:cNvSpPr>
            <a:spLocks xmlns:a="http://schemas.openxmlformats.org/drawingml/2006/main" noGrp="1"/>
          </p:cNvSpPr>
          <p:nvPr/>
        </p:nvSpPr>
        <p:spPr>
          <a:xfrm xmlns:a="http://schemas.openxmlformats.org/drawingml/2006/main">
            <a:off x="723900" y="2819400"/>
            <a:ext cx="140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B3558"/>
                </a:solidFill>
              </a:defRPr>
            </a:pPr>
            <a:r>
              <a:rPr sz="1350" b="1">
                <a:solidFill>
                  <a:srgbClr val="0B3558"/>
                </a:solidFill>
              </a:rPr>
              <a:t>Người dùng</a:t>
            </a:r>
          </a:p>
        </p:txBody>
      </p:sp>
      <p:sp>
        <p:nvSpPr>
          <p:cNvPr id="15" name="">
            <a:extLst xmlns:a="http://schemas.openxmlformats.org/drawingml/2006/main">
              <a:ext uri="{FF2B5EF4-FFF2-40B4-BE49-F238E27FC236}">
                <a16:creationId xmlns:a16="http://schemas.microsoft.com/office/drawing/2014/main" id="{DE1BBFDE-9C29-4B21-8E93-D5175DD5BB8B}"/>
              </a:ext>
            </a:extLst>
          </p:cNvPr>
          <p:cNvSpPr>
            <a:spLocks xmlns:a="http://schemas.openxmlformats.org/drawingml/2006/main" noGrp="1"/>
          </p:cNvSpPr>
          <p:nvPr/>
        </p:nvSpPr>
        <p:spPr>
          <a:xfrm xmlns:a="http://schemas.openxmlformats.org/drawingml/2006/main">
            <a:off x="723900" y="3171825"/>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0B3558"/>
                </a:solidFill>
              </a:defRPr>
            </a:pPr>
            <a:r>
              <a:rPr sz="1200" b="0">
                <a:solidFill>
                  <a:srgbClr val="0B3558"/>
                </a:solidFill>
              </a:rPr>
              <a:t>Nhập câu hỏi</a:t>
            </a:r>
          </a:p>
        </p:txBody>
      </p:sp>
      <p:sp>
        <p:nvSpPr>
          <p:cNvPr id="16" name="">
            <a:extLst xmlns:a="http://schemas.openxmlformats.org/drawingml/2006/main">
              <a:ext uri="{FF2B5EF4-FFF2-40B4-BE49-F238E27FC236}">
                <a16:creationId xmlns:a16="http://schemas.microsoft.com/office/drawing/2014/main" id="{873D12A8-9D04-4D8A-8090-B5A6DCEE6415}"/>
              </a:ext>
            </a:extLst>
          </p:cNvPr>
          <p:cNvSpPr>
            <a:spLocks xmlns:a="http://schemas.openxmlformats.org/drawingml/2006/main" noGrp="1"/>
          </p:cNvSpPr>
          <p:nvPr/>
        </p:nvSpPr>
        <p:spPr>
          <a:xfrm xmlns:a="http://schemas.openxmlformats.org/drawingml/2006/main">
            <a:off x="2857500" y="2647950"/>
            <a:ext cx="1638300" cy="1123950"/>
          </a:xfrm>
          <a:prstGeom xmlns:a="http://schemas.openxmlformats.org/drawingml/2006/main" prst="roundRect">
            <a:avLst>
              <a:gd name="adj" fmla="val 6780"/>
            </a:avLst>
          </a:prstGeom>
          <a:solidFill xmlns:a="http://schemas.openxmlformats.org/drawingml/2006/main">
            <a:srgbClr val="F5B94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A4433F4-B080-490A-AD06-8D57BB91D931}"/>
              </a:ext>
            </a:extLst>
          </p:cNvPr>
          <p:cNvSpPr>
            <a:spLocks xmlns:a="http://schemas.openxmlformats.org/drawingml/2006/main" noGrp="1"/>
          </p:cNvSpPr>
          <p:nvPr/>
        </p:nvSpPr>
        <p:spPr>
          <a:xfrm xmlns:a="http://schemas.openxmlformats.org/drawingml/2006/main">
            <a:off x="2971800" y="2819400"/>
            <a:ext cx="140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B3558"/>
                </a:solidFill>
              </a:defRPr>
            </a:pPr>
            <a:r>
              <a:rPr sz="1350" b="1">
                <a:solidFill>
                  <a:srgbClr val="0B3558"/>
                </a:solidFill>
              </a:rPr>
              <a:t>NLP / Router</a:t>
            </a:r>
          </a:p>
        </p:txBody>
      </p:sp>
      <p:sp>
        <p:nvSpPr>
          <p:cNvPr id="18" name="">
            <a:extLst xmlns:a="http://schemas.openxmlformats.org/drawingml/2006/main">
              <a:ext uri="{FF2B5EF4-FFF2-40B4-BE49-F238E27FC236}">
                <a16:creationId xmlns:a16="http://schemas.microsoft.com/office/drawing/2014/main" id="{71BC7262-B970-4EB3-A33F-7D51A4842103}"/>
              </a:ext>
            </a:extLst>
          </p:cNvPr>
          <p:cNvSpPr>
            <a:spLocks xmlns:a="http://schemas.openxmlformats.org/drawingml/2006/main" noGrp="1"/>
          </p:cNvSpPr>
          <p:nvPr/>
        </p:nvSpPr>
        <p:spPr>
          <a:xfrm xmlns:a="http://schemas.openxmlformats.org/drawingml/2006/main">
            <a:off x="2971800" y="3171825"/>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0B3558"/>
                </a:solidFill>
              </a:defRPr>
            </a:pPr>
            <a:r>
              <a:rPr sz="1200" b="0">
                <a:solidFill>
                  <a:srgbClr val="0B3558"/>
                </a:solidFill>
              </a:rPr>
              <a:t>Hiểu ý định</a:t>
            </a:r>
          </a:p>
        </p:txBody>
      </p:sp>
      <p:sp>
        <p:nvSpPr>
          <p:cNvPr id="19" name="">
            <a:extLst xmlns:a="http://schemas.openxmlformats.org/drawingml/2006/main">
              <a:ext uri="{FF2B5EF4-FFF2-40B4-BE49-F238E27FC236}">
                <a16:creationId xmlns:a16="http://schemas.microsoft.com/office/drawing/2014/main" id="{A20D948C-C566-48AD-BBCD-AA63AFF43384}"/>
              </a:ext>
            </a:extLst>
          </p:cNvPr>
          <p:cNvSpPr>
            <a:spLocks xmlns:a="http://schemas.openxmlformats.org/drawingml/2006/main" noGrp="1"/>
          </p:cNvSpPr>
          <p:nvPr/>
        </p:nvSpPr>
        <p:spPr>
          <a:xfrm xmlns:a="http://schemas.openxmlformats.org/drawingml/2006/main">
            <a:off x="5105400" y="2647950"/>
            <a:ext cx="1638300" cy="1123950"/>
          </a:xfrm>
          <a:prstGeom xmlns:a="http://schemas.openxmlformats.org/drawingml/2006/main" prst="roundRect">
            <a:avLst>
              <a:gd name="adj" fmla="val 6780"/>
            </a:avLst>
          </a:prstGeom>
          <a:solidFill xmlns:a="http://schemas.openxmlformats.org/drawingml/2006/main">
            <a:srgbClr val="46A37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D639142-E75A-4260-B87F-6C8F73CE33C4}"/>
              </a:ext>
            </a:extLst>
          </p:cNvPr>
          <p:cNvSpPr>
            <a:spLocks xmlns:a="http://schemas.openxmlformats.org/drawingml/2006/main" noGrp="1"/>
          </p:cNvSpPr>
          <p:nvPr/>
        </p:nvSpPr>
        <p:spPr>
          <a:xfrm xmlns:a="http://schemas.openxmlformats.org/drawingml/2006/main">
            <a:off x="5219700" y="2819400"/>
            <a:ext cx="140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B3558"/>
                </a:solidFill>
              </a:defRPr>
            </a:pPr>
            <a:r>
              <a:rPr sz="1350" b="1">
                <a:solidFill>
                  <a:srgbClr val="0B3558"/>
                </a:solidFill>
              </a:rPr>
              <a:t>Kho tri thức</a:t>
            </a:r>
          </a:p>
        </p:txBody>
      </p:sp>
      <p:sp>
        <p:nvSpPr>
          <p:cNvPr id="21" name="">
            <a:extLst xmlns:a="http://schemas.openxmlformats.org/drawingml/2006/main">
              <a:ext uri="{FF2B5EF4-FFF2-40B4-BE49-F238E27FC236}">
                <a16:creationId xmlns:a16="http://schemas.microsoft.com/office/drawing/2014/main" id="{F3C242F9-D1CE-4F8E-BEFE-632C7103E8E0}"/>
              </a:ext>
            </a:extLst>
          </p:cNvPr>
          <p:cNvSpPr>
            <a:spLocks xmlns:a="http://schemas.openxmlformats.org/drawingml/2006/main" noGrp="1"/>
          </p:cNvSpPr>
          <p:nvPr/>
        </p:nvSpPr>
        <p:spPr>
          <a:xfrm xmlns:a="http://schemas.openxmlformats.org/drawingml/2006/main">
            <a:off x="5219700" y="3171825"/>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0B3558"/>
                </a:solidFill>
              </a:defRPr>
            </a:pPr>
            <a:r>
              <a:rPr sz="1200" b="0">
                <a:solidFill>
                  <a:srgbClr val="0B3558"/>
                </a:solidFill>
              </a:rPr>
              <a:t>Tìm đoạn phù hợp</a:t>
            </a:r>
          </a:p>
        </p:txBody>
      </p:sp>
      <p:sp>
        <p:nvSpPr>
          <p:cNvPr id="22" name="">
            <a:extLst xmlns:a="http://schemas.openxmlformats.org/drawingml/2006/main">
              <a:ext uri="{FF2B5EF4-FFF2-40B4-BE49-F238E27FC236}">
                <a16:creationId xmlns:a16="http://schemas.microsoft.com/office/drawing/2014/main" id="{B424125F-319E-4A59-AB6D-3E5C1D43BD7B}"/>
              </a:ext>
            </a:extLst>
          </p:cNvPr>
          <p:cNvSpPr>
            <a:spLocks xmlns:a="http://schemas.openxmlformats.org/drawingml/2006/main" noGrp="1"/>
          </p:cNvSpPr>
          <p:nvPr/>
        </p:nvSpPr>
        <p:spPr>
          <a:xfrm xmlns:a="http://schemas.openxmlformats.org/drawingml/2006/main">
            <a:off x="7353300" y="2647950"/>
            <a:ext cx="1638300" cy="1123950"/>
          </a:xfrm>
          <a:prstGeom xmlns:a="http://schemas.openxmlformats.org/drawingml/2006/main" prst="roundRect">
            <a:avLst>
              <a:gd name="adj" fmla="val 6780"/>
            </a:avLst>
          </a:prstGeom>
          <a:solidFill xmlns:a="http://schemas.openxmlformats.org/drawingml/2006/main">
            <a:srgbClr val="1769A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E9F61E5-5F27-4275-9C60-389E5A613C80}"/>
              </a:ext>
            </a:extLst>
          </p:cNvPr>
          <p:cNvSpPr>
            <a:spLocks xmlns:a="http://schemas.openxmlformats.org/drawingml/2006/main" noGrp="1"/>
          </p:cNvSpPr>
          <p:nvPr/>
        </p:nvSpPr>
        <p:spPr>
          <a:xfrm xmlns:a="http://schemas.openxmlformats.org/drawingml/2006/main">
            <a:off x="7467600" y="2819400"/>
            <a:ext cx="140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B3558"/>
                </a:solidFill>
              </a:defRPr>
            </a:pPr>
            <a:r>
              <a:rPr sz="1350" b="1">
                <a:solidFill>
                  <a:srgbClr val="0B3558"/>
                </a:solidFill>
              </a:rPr>
              <a:t>Bộ sinh đáp án</a:t>
            </a:r>
          </a:p>
        </p:txBody>
      </p:sp>
      <p:sp>
        <p:nvSpPr>
          <p:cNvPr id="24" name="">
            <a:extLst xmlns:a="http://schemas.openxmlformats.org/drawingml/2006/main">
              <a:ext uri="{FF2B5EF4-FFF2-40B4-BE49-F238E27FC236}">
                <a16:creationId xmlns:a16="http://schemas.microsoft.com/office/drawing/2014/main" id="{4038301F-45B4-4ABB-82FF-35921A2CA5E4}"/>
              </a:ext>
            </a:extLst>
          </p:cNvPr>
          <p:cNvSpPr>
            <a:spLocks xmlns:a="http://schemas.openxmlformats.org/drawingml/2006/main" noGrp="1"/>
          </p:cNvSpPr>
          <p:nvPr/>
        </p:nvSpPr>
        <p:spPr>
          <a:xfrm xmlns:a="http://schemas.openxmlformats.org/drawingml/2006/main">
            <a:off x="7467600" y="3171825"/>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0B3558"/>
                </a:solidFill>
              </a:defRPr>
            </a:pPr>
            <a:r>
              <a:rPr sz="1200" b="0">
                <a:solidFill>
                  <a:srgbClr val="0B3558"/>
                </a:solidFill>
              </a:rPr>
              <a:t>Tổng hợp + kiểm tra</a:t>
            </a:r>
          </a:p>
        </p:txBody>
      </p:sp>
      <p:sp>
        <p:nvSpPr>
          <p:cNvPr id="25" name="">
            <a:extLst xmlns:a="http://schemas.openxmlformats.org/drawingml/2006/main">
              <a:ext uri="{FF2B5EF4-FFF2-40B4-BE49-F238E27FC236}">
                <a16:creationId xmlns:a16="http://schemas.microsoft.com/office/drawing/2014/main" id="{1F42A1CE-C70D-4917-B7E1-BB289743FAD9}"/>
              </a:ext>
            </a:extLst>
          </p:cNvPr>
          <p:cNvSpPr>
            <a:spLocks xmlns:a="http://schemas.openxmlformats.org/drawingml/2006/main" noGrp="1"/>
          </p:cNvSpPr>
          <p:nvPr/>
        </p:nvSpPr>
        <p:spPr>
          <a:xfrm xmlns:a="http://schemas.openxmlformats.org/drawingml/2006/main">
            <a:off x="9601200" y="2647950"/>
            <a:ext cx="1638300" cy="1123950"/>
          </a:xfrm>
          <a:prstGeom xmlns:a="http://schemas.openxmlformats.org/drawingml/2006/main" prst="roundRect">
            <a:avLst>
              <a:gd name="adj" fmla="val 6780"/>
            </a:avLst>
          </a:prstGeom>
          <a:solidFill xmlns:a="http://schemas.openxmlformats.org/drawingml/2006/main">
            <a:srgbClr val="0B355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BC7E5E2-F2F7-4EE8-B4E1-AD3C93109AE2}"/>
              </a:ext>
            </a:extLst>
          </p:cNvPr>
          <p:cNvSpPr>
            <a:spLocks xmlns:a="http://schemas.openxmlformats.org/drawingml/2006/main" noGrp="1"/>
          </p:cNvSpPr>
          <p:nvPr/>
        </p:nvSpPr>
        <p:spPr>
          <a:xfrm xmlns:a="http://schemas.openxmlformats.org/drawingml/2006/main">
            <a:off x="9715500" y="2819400"/>
            <a:ext cx="140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B3558"/>
                </a:solidFill>
              </a:defRPr>
            </a:pPr>
            <a:r>
              <a:rPr sz="1350" b="1">
                <a:solidFill>
                  <a:srgbClr val="0B3558"/>
                </a:solidFill>
              </a:rPr>
              <a:t>Phản hồi</a:t>
            </a:r>
          </a:p>
        </p:txBody>
      </p:sp>
      <p:sp>
        <p:nvSpPr>
          <p:cNvPr id="27" name="">
            <a:extLst xmlns:a="http://schemas.openxmlformats.org/drawingml/2006/main">
              <a:ext uri="{FF2B5EF4-FFF2-40B4-BE49-F238E27FC236}">
                <a16:creationId xmlns:a16="http://schemas.microsoft.com/office/drawing/2014/main" id="{A8C15400-33AE-4776-98A2-21B0F8D7FBAB}"/>
              </a:ext>
            </a:extLst>
          </p:cNvPr>
          <p:cNvSpPr>
            <a:spLocks xmlns:a="http://schemas.openxmlformats.org/drawingml/2006/main" noGrp="1"/>
          </p:cNvSpPr>
          <p:nvPr/>
        </p:nvSpPr>
        <p:spPr>
          <a:xfrm xmlns:a="http://schemas.openxmlformats.org/drawingml/2006/main">
            <a:off x="9715500" y="3171825"/>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FFFFFF"/>
                </a:solidFill>
              </a:defRPr>
            </a:pPr>
            <a:r>
              <a:rPr sz="1200" b="0">
                <a:solidFill>
                  <a:srgbClr val="FFFFFF"/>
                </a:solidFill>
              </a:rPr>
              <a:t>Câu trả lời</a:t>
            </a:r>
          </a:p>
          <a:p xmlns:a="http://schemas.openxmlformats.org/drawingml/2006/main">
            <a:pPr algn="ctr">
              <a:buNone/>
              <a:defRPr sz="1200" b="0">
                <a:solidFill>
                  <a:srgbClr val="FFFFFF"/>
                </a:solidFill>
              </a:defRPr>
            </a:pPr>
            <a:r>
              <a:rPr sz="1200" b="0">
                <a:solidFill>
                  <a:srgbClr val="FFFFFF"/>
                </a:solidFill>
              </a:rPr>
              <a:t>hoặc chuyển người thật</a:t>
            </a:r>
          </a:p>
        </p:txBody>
      </p:sp>
      <p:sp>
        <p:nvSpPr>
          <p:cNvPr id="28" name="">
            <a:extLst xmlns:a="http://schemas.openxmlformats.org/drawingml/2006/main">
              <a:ext uri="{FF2B5EF4-FFF2-40B4-BE49-F238E27FC236}">
                <a16:creationId xmlns:a16="http://schemas.microsoft.com/office/drawing/2014/main" id="{EA606AF1-CA40-43A6-859A-E97BD6F6AB06}"/>
              </a:ext>
            </a:extLst>
          </p:cNvPr>
          <p:cNvSpPr>
            <a:spLocks xmlns:a="http://schemas.openxmlformats.org/drawingml/2006/main" noGrp="1"/>
          </p:cNvSpPr>
          <p:nvPr/>
        </p:nvSpPr>
        <p:spPr>
          <a:xfrm xmlns:a="http://schemas.openxmlformats.org/drawingml/2006/main">
            <a:off x="2152650" y="4686300"/>
            <a:ext cx="7905750" cy="762000"/>
          </a:xfrm>
          <a:prstGeom xmlns:a="http://schemas.openxmlformats.org/drawingml/2006/main" prst="roundRect">
            <a:avLst>
              <a:gd name="adj" fmla="val 10000"/>
            </a:avLst>
          </a:prstGeom>
          <a:solidFill xmlns:a="http://schemas.openxmlformats.org/drawingml/2006/main">
            <a:srgbClr val="F3F7F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0091380-0753-406F-B3E3-C7476529C7BE}"/>
              </a:ext>
            </a:extLst>
          </p:cNvPr>
          <p:cNvSpPr>
            <a:spLocks xmlns:a="http://schemas.openxmlformats.org/drawingml/2006/main" noGrp="1"/>
          </p:cNvSpPr>
          <p:nvPr/>
        </p:nvSpPr>
        <p:spPr>
          <a:xfrm xmlns:a="http://schemas.openxmlformats.org/drawingml/2006/main">
            <a:off x="2419350" y="4876800"/>
            <a:ext cx="7381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02A43"/>
                </a:solidFill>
              </a:defRPr>
            </a:pPr>
            <a:r>
              <a:rPr sz="1500" b="1">
                <a:solidFill>
                  <a:srgbClr val="102A43"/>
                </a:solidFill>
              </a:rPr>
              <a:t>Cơ chế an toàn: ngưỡng tin cậy thấp → nêu rõ giới hạn → gợi ý liên hệ phòng tuyển sinh.</a:t>
            </a:r>
          </a:p>
        </p:txBody>
      </p:sp>
      <p:sp>
        <p:nvSpPr>
          <p:cNvPr id="30" name="">
            <a:extLst xmlns:a="http://schemas.openxmlformats.org/drawingml/2006/main">
              <a:ext uri="{FF2B5EF4-FFF2-40B4-BE49-F238E27FC236}">
                <a16:creationId xmlns:a16="http://schemas.microsoft.com/office/drawing/2014/main" id="{53862C8C-10B7-4B42-8BD8-99A851DB0FA6}"/>
              </a:ext>
            </a:extLst>
          </p:cNvPr>
          <p:cNvSpPr>
            <a:spLocks xmlns:a="http://schemas.openxmlformats.org/drawingml/2006/main" noGrp="1"/>
          </p:cNvSpPr>
          <p:nvPr/>
        </p:nvSpPr>
        <p:spPr>
          <a:xfrm xmlns:a="http://schemas.openxmlformats.org/drawingml/2006/main">
            <a:off x="6096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0">
                <a:solidFill>
                  <a:srgbClr val="52677D"/>
                </a:solidFill>
              </a:defRPr>
            </a:pPr>
            <a:r>
              <a:rPr sz="900" b="0">
                <a:solidFill>
                  <a:srgbClr val="52677D"/>
                </a:solidFill>
              </a:rPr>
              <a:t>Đại học Công nghệ Đông Á · Hệ thống hỏi đáp tuyển sinh</a:t>
            </a:r>
          </a:p>
        </p:txBody>
      </p:sp>
      <p:sp>
        <p:nvSpPr>
          <p:cNvPr id="31" name="">
            <a:extLst xmlns:a="http://schemas.openxmlformats.org/drawingml/2006/main">
              <a:ext uri="{FF2B5EF4-FFF2-40B4-BE49-F238E27FC236}">
                <a16:creationId xmlns:a16="http://schemas.microsoft.com/office/drawing/2014/main" id="{13A8E70E-5427-4FD6-94A6-9CDBE28AC9FF}"/>
              </a:ext>
            </a:extLst>
          </p:cNvPr>
          <p:cNvSpPr>
            <a:spLocks xmlns:a="http://schemas.openxmlformats.org/drawingml/2006/main" noGrp="1"/>
          </p:cNvSpPr>
          <p:nvPr/>
        </p:nvSpPr>
        <p:spPr>
          <a:xfrm xmlns:a="http://schemas.openxmlformats.org/drawingml/2006/main">
            <a:off x="11239500" y="64198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2677D"/>
                </a:solidFill>
              </a:defRPr>
            </a:pPr>
            <a:r>
              <a:rPr sz="900" b="1">
                <a:solidFill>
                  <a:srgbClr val="52677D"/>
                </a:solidFill>
              </a:rPr>
              <a:t>5</a:t>
            </a:r>
          </a:p>
        </p:txBody>
      </p:sp>
      <p:sp>
        <p:nvSpPr>
          <p:cNvPr id="33" name="">
            <a:extLst xmlns:a="http://schemas.openxmlformats.org/drawingml/2006/main">
              <a:ext uri="{FF2B5EF4-FFF2-40B4-BE49-F238E27FC236}">
                <a16:creationId xmlns:a16="http://schemas.microsoft.com/office/drawing/2014/main" id="{7DB2FD72-A68A-41AA-ACC3-0FCD69DB1A64}"/>
              </a:ext>
            </a:extLst>
          </p:cNvPr>
          <p:cNvSpPr>
            <a:spLocks xmlns:a="http://schemas.openxmlformats.org/drawingml/2006/main" noGrp="1"/>
          </p:cNvSpPr>
          <p:nvPr/>
        </p:nvSpPr>
        <p:spPr>
          <a:xfrm xmlns:a="http://schemas.openxmlformats.org/drawingml/2006/main">
            <a:off x="10115550" y="438150"/>
            <a:ext cx="10096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1ca17f3933804425"/>
          <a:stretch xmlns:a="http://schemas.openxmlformats.org/drawingml/2006/main"/>
        </p:blipFill>
        <p:spPr>
          <a:xfrm xmlns:a="http://schemas.openxmlformats.org/drawingml/2006/main">
            <a:off x="10286061" y="476250"/>
            <a:ext cx="668627" cy="609600"/>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F5506A93-49B7-43DD-B3CF-8B274C9D3193}"/>
              </a:ext>
            </a:extLst>
          </p:cNvPr>
          <p:cNvSpPr>
            <a:spLocks xmlns:a="http://schemas.openxmlformats.org/drawingml/2006/main" noGrp="1"/>
          </p:cNvSpPr>
          <p:nvPr/>
        </p:nvSpPr>
        <p:spPr>
          <a:xfrm xmlns:a="http://schemas.openxmlformats.org/drawingml/2006/main">
            <a:off x="8763000" y="514350"/>
            <a:ext cx="1219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1769AA"/>
                </a:solidFill>
              </a:defRPr>
            </a:pPr>
            <a:r>
              <a:rPr sz="825" b="1">
                <a:solidFill>
                  <a:srgbClr val="1769AA"/>
                </a:solidFill>
              </a:rPr>
              <a:t>EAUT · AI ADMISSIONS</a:t>
            </a:r>
          </a:p>
        </p:txBody>
      </p:sp>
    </p:spTree>
    <p:extLst>
      <p:ext uri="{BB962C8B-B14F-4D97-AF65-F5344CB8AC3E}">
        <p14:creationId xmlns:p14="http://schemas.microsoft.com/office/powerpoint/2010/main" val="130219920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1DE8925-829E-41DB-ADD6-96DCBE43FEC2}"/>
              </a:ext>
            </a:extLst>
          </p:cNvPr>
          <p:cNvSpPr>
            <a:spLocks xmlns:a="http://schemas.openxmlformats.org/drawingml/2006/main" noGrp="1"/>
          </p:cNvSpPr>
          <p:nvPr/>
        </p:nvSpPr>
        <p:spPr>
          <a:xfrm xmlns:a="http://schemas.openxmlformats.org/drawingml/2006/main">
            <a:off x="6096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1769AA"/>
                </a:solidFill>
              </a:defRPr>
            </a:pPr>
            <a:r>
              <a:rPr sz="1050" b="1">
                <a:solidFill>
                  <a:srgbClr val="1769AA"/>
                </a:solidFill>
              </a:rPr>
              <a:t>DỰ ÁN HỌC PHẦN · TRÍ TUỆ NHÂN TẠO</a:t>
            </a:r>
          </a:p>
        </p:txBody>
      </p:sp>
      <p:sp>
        <p:nvSpPr>
          <p:cNvPr id="2" name="">
            <a:extLst xmlns:a="http://schemas.openxmlformats.org/drawingml/2006/main">
              <a:ext uri="{FF2B5EF4-FFF2-40B4-BE49-F238E27FC236}">
                <a16:creationId xmlns:a16="http://schemas.microsoft.com/office/drawing/2014/main" id="{2154E2CB-2102-43E2-BF0B-4AC7353A8617}"/>
              </a:ext>
            </a:extLst>
          </p:cNvPr>
          <p:cNvSpPr>
            <a:spLocks xmlns:a="http://schemas.openxmlformats.org/drawingml/2006/main" noGrp="1"/>
          </p:cNvSpPr>
          <p:nvPr/>
        </p:nvSpPr>
        <p:spPr>
          <a:xfrm xmlns:a="http://schemas.openxmlformats.org/drawingml/2006/main">
            <a:off x="609600" y="68580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02A43"/>
                </a:solidFill>
              </a:defRPr>
            </a:pPr>
            <a:r>
              <a:rPr sz="2700" b="1">
                <a:solidFill>
                  <a:srgbClr val="102A43"/>
                </a:solidFill>
              </a:rPr>
              <a:t>Hội thoại rõ ràng, ngắn gọn và có bước tiếp theo</a:t>
            </a:r>
          </a:p>
        </p:txBody>
      </p:sp>
      <p:sp>
        <p:nvSpPr>
          <p:cNvPr id="3" name="">
            <a:extLst xmlns:a="http://schemas.openxmlformats.org/drawingml/2006/main">
              <a:ext uri="{FF2B5EF4-FFF2-40B4-BE49-F238E27FC236}">
                <a16:creationId xmlns:a16="http://schemas.microsoft.com/office/drawing/2014/main" id="{A5B96DC3-A0B6-4AE4-8D11-959EF54D1957}"/>
              </a:ext>
            </a:extLst>
          </p:cNvPr>
          <p:cNvSpPr>
            <a:spLocks xmlns:a="http://schemas.openxmlformats.org/drawingml/2006/main" noGrp="1"/>
          </p:cNvSpPr>
          <p:nvPr/>
        </p:nvSpPr>
        <p:spPr>
          <a:xfrm xmlns:a="http://schemas.openxmlformats.org/drawingml/2006/main">
            <a:off x="10953750" y="36195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125" b="1">
                <a:solidFill>
                  <a:srgbClr val="52677D"/>
                </a:solidFill>
              </a:defRPr>
            </a:pPr>
            <a:r>
              <a:rPr sz="1125" b="1">
                <a:solidFill>
                  <a:srgbClr val="52677D"/>
                </a:solidFill>
              </a:rPr>
              <a:t>06</a:t>
            </a:r>
          </a:p>
        </p:txBody>
      </p:sp>
      <p:sp>
        <p:nvSpPr>
          <p:cNvPr id="4" name="">
            <a:extLst xmlns:a="http://schemas.openxmlformats.org/drawingml/2006/main">
              <a:ext uri="{FF2B5EF4-FFF2-40B4-BE49-F238E27FC236}">
                <a16:creationId xmlns:a16="http://schemas.microsoft.com/office/drawing/2014/main" id="{2CEF1F4C-63E4-424E-9FDE-5B4BF83A0F82}"/>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CED9E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50C039B-E394-4EBC-9C49-5BFE986FB220}"/>
              </a:ext>
            </a:extLst>
          </p:cNvPr>
          <p:cNvSpPr>
            <a:spLocks xmlns:a="http://schemas.openxmlformats.org/drawingml/2006/main" noGrp="1"/>
          </p:cNvSpPr>
          <p:nvPr/>
        </p:nvSpPr>
        <p:spPr>
          <a:xfrm xmlns:a="http://schemas.openxmlformats.org/drawingml/2006/main">
            <a:off x="609600" y="19050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1769AA"/>
                </a:solidFill>
              </a:defRPr>
            </a:pPr>
            <a:r>
              <a:rPr sz="1950" b="1">
                <a:solidFill>
                  <a:srgbClr val="1769AA"/>
                </a:solidFill>
              </a:rPr>
              <a:t>01</a:t>
            </a:r>
          </a:p>
        </p:txBody>
      </p:sp>
      <p:sp>
        <p:nvSpPr>
          <p:cNvPr id="6" name="">
            <a:extLst xmlns:a="http://schemas.openxmlformats.org/drawingml/2006/main">
              <a:ext uri="{FF2B5EF4-FFF2-40B4-BE49-F238E27FC236}">
                <a16:creationId xmlns:a16="http://schemas.microsoft.com/office/drawing/2014/main" id="{A65428FF-7376-4A67-B043-774D161CAD36}"/>
              </a:ext>
            </a:extLst>
          </p:cNvPr>
          <p:cNvSpPr>
            <a:spLocks xmlns:a="http://schemas.openxmlformats.org/drawingml/2006/main" noGrp="1"/>
          </p:cNvSpPr>
          <p:nvPr/>
        </p:nvSpPr>
        <p:spPr>
          <a:xfrm xmlns:a="http://schemas.openxmlformats.org/drawingml/2006/main">
            <a:off x="609600" y="2381250"/>
            <a:ext cx="2266950" cy="2362200"/>
          </a:xfrm>
          <a:prstGeom xmlns:a="http://schemas.openxmlformats.org/drawingml/2006/main" prst="roundRect">
            <a:avLst>
              <a:gd name="adj" fmla="val 3361"/>
            </a:avLst>
          </a:prstGeom>
          <a:solidFill xmlns:a="http://schemas.openxmlformats.org/drawingml/2006/main">
            <a:srgbClr val="F3F7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5153492-45FD-47F4-9EDF-47AD8B7F4B2D}"/>
              </a:ext>
            </a:extLst>
          </p:cNvPr>
          <p:cNvSpPr>
            <a:spLocks xmlns:a="http://schemas.openxmlformats.org/drawingml/2006/main" noGrp="1"/>
          </p:cNvSpPr>
          <p:nvPr/>
        </p:nvSpPr>
        <p:spPr>
          <a:xfrm xmlns:a="http://schemas.openxmlformats.org/drawingml/2006/main">
            <a:off x="819150" y="264795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102A43"/>
                </a:solidFill>
              </a:defRPr>
            </a:pPr>
            <a:r>
              <a:rPr sz="1650" b="1">
                <a:solidFill>
                  <a:srgbClr val="102A43"/>
                </a:solidFill>
              </a:rPr>
              <a:t>Hỏi</a:t>
            </a:r>
          </a:p>
        </p:txBody>
      </p:sp>
      <p:sp>
        <p:nvSpPr>
          <p:cNvPr id="8" name="">
            <a:extLst xmlns:a="http://schemas.openxmlformats.org/drawingml/2006/main">
              <a:ext uri="{FF2B5EF4-FFF2-40B4-BE49-F238E27FC236}">
                <a16:creationId xmlns:a16="http://schemas.microsoft.com/office/drawing/2014/main" id="{71076AF4-FB14-4B46-B426-D1EA75CEC2F2}"/>
              </a:ext>
            </a:extLst>
          </p:cNvPr>
          <p:cNvSpPr>
            <a:spLocks xmlns:a="http://schemas.openxmlformats.org/drawingml/2006/main" noGrp="1"/>
          </p:cNvSpPr>
          <p:nvPr/>
        </p:nvSpPr>
        <p:spPr>
          <a:xfrm xmlns:a="http://schemas.openxmlformats.org/drawingml/2006/main">
            <a:off x="819150" y="3067050"/>
            <a:ext cx="619125" cy="28575"/>
          </a:xfrm>
          <a:prstGeom xmlns:a="http://schemas.openxmlformats.org/drawingml/2006/main" prst="rect">
            <a:avLst/>
          </a:prstGeom>
          <a:solidFill xmlns:a="http://schemas.openxmlformats.org/drawingml/2006/main">
            <a:srgbClr val="CED9E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CE64963-20B9-4544-86BF-70E8BFF6B4DA}"/>
              </a:ext>
            </a:extLst>
          </p:cNvPr>
          <p:cNvSpPr>
            <a:spLocks xmlns:a="http://schemas.openxmlformats.org/drawingml/2006/main" noGrp="1"/>
          </p:cNvSpPr>
          <p:nvPr/>
        </p:nvSpPr>
        <p:spPr>
          <a:xfrm xmlns:a="http://schemas.openxmlformats.org/drawingml/2006/main">
            <a:off x="819150" y="3333750"/>
            <a:ext cx="18478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2677D"/>
                </a:solidFill>
              </a:defRPr>
            </a:pPr>
            <a:r>
              <a:rPr sz="1425" b="0">
                <a:solidFill>
                  <a:srgbClr val="52677D"/>
                </a:solidFill>
              </a:rPr>
              <a:t>“Ngành CNTT xét tuyển thế nào?”</a:t>
            </a:r>
          </a:p>
        </p:txBody>
      </p:sp>
      <p:sp>
        <p:nvSpPr>
          <p:cNvPr id="10" name="">
            <a:extLst xmlns:a="http://schemas.openxmlformats.org/drawingml/2006/main">
              <a:ext uri="{FF2B5EF4-FFF2-40B4-BE49-F238E27FC236}">
                <a16:creationId xmlns:a16="http://schemas.microsoft.com/office/drawing/2014/main" id="{21A78A95-4ED1-4586-9CA4-5BCC522BFB75}"/>
              </a:ext>
            </a:extLst>
          </p:cNvPr>
          <p:cNvSpPr>
            <a:spLocks xmlns:a="http://schemas.openxmlformats.org/drawingml/2006/main" noGrp="1"/>
          </p:cNvSpPr>
          <p:nvPr/>
        </p:nvSpPr>
        <p:spPr>
          <a:xfrm xmlns:a="http://schemas.openxmlformats.org/drawingml/2006/main">
            <a:off x="3333750" y="19050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F5B942"/>
                </a:solidFill>
              </a:defRPr>
            </a:pPr>
            <a:r>
              <a:rPr sz="1950" b="1">
                <a:solidFill>
                  <a:srgbClr val="F5B942"/>
                </a:solidFill>
              </a:rPr>
              <a:t>02</a:t>
            </a:r>
          </a:p>
        </p:txBody>
      </p:sp>
      <p:sp>
        <p:nvSpPr>
          <p:cNvPr id="11" name="">
            <a:extLst xmlns:a="http://schemas.openxmlformats.org/drawingml/2006/main">
              <a:ext uri="{FF2B5EF4-FFF2-40B4-BE49-F238E27FC236}">
                <a16:creationId xmlns:a16="http://schemas.microsoft.com/office/drawing/2014/main" id="{6BB13A26-BEE4-408F-956B-088CCC9EAD8B}"/>
              </a:ext>
            </a:extLst>
          </p:cNvPr>
          <p:cNvSpPr>
            <a:spLocks xmlns:a="http://schemas.openxmlformats.org/drawingml/2006/main" noGrp="1"/>
          </p:cNvSpPr>
          <p:nvPr/>
        </p:nvSpPr>
        <p:spPr>
          <a:xfrm xmlns:a="http://schemas.openxmlformats.org/drawingml/2006/main">
            <a:off x="3333750" y="2381250"/>
            <a:ext cx="2266950" cy="2362200"/>
          </a:xfrm>
          <a:prstGeom xmlns:a="http://schemas.openxmlformats.org/drawingml/2006/main" prst="roundRect">
            <a:avLst>
              <a:gd name="adj" fmla="val 3361"/>
            </a:avLst>
          </a:prstGeom>
          <a:solidFill xmlns:a="http://schemas.openxmlformats.org/drawingml/2006/main">
            <a:srgbClr val="F3F7F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034E048-D985-449A-8DB0-76961769E92C}"/>
              </a:ext>
            </a:extLst>
          </p:cNvPr>
          <p:cNvSpPr>
            <a:spLocks xmlns:a="http://schemas.openxmlformats.org/drawingml/2006/main" noGrp="1"/>
          </p:cNvSpPr>
          <p:nvPr/>
        </p:nvSpPr>
        <p:spPr>
          <a:xfrm xmlns:a="http://schemas.openxmlformats.org/drawingml/2006/main">
            <a:off x="3543300" y="264795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102A43"/>
                </a:solidFill>
              </a:defRPr>
            </a:pPr>
            <a:r>
              <a:rPr sz="1650" b="1">
                <a:solidFill>
                  <a:srgbClr val="102A43"/>
                </a:solidFill>
              </a:rPr>
              <a:t>Làm rõ</a:t>
            </a:r>
          </a:p>
        </p:txBody>
      </p:sp>
      <p:sp>
        <p:nvSpPr>
          <p:cNvPr id="13" name="">
            <a:extLst xmlns:a="http://schemas.openxmlformats.org/drawingml/2006/main">
              <a:ext uri="{FF2B5EF4-FFF2-40B4-BE49-F238E27FC236}">
                <a16:creationId xmlns:a16="http://schemas.microsoft.com/office/drawing/2014/main" id="{F9E4772C-A723-4625-9BC8-4ABD264B5C23}"/>
              </a:ext>
            </a:extLst>
          </p:cNvPr>
          <p:cNvSpPr>
            <a:spLocks xmlns:a="http://schemas.openxmlformats.org/drawingml/2006/main" noGrp="1"/>
          </p:cNvSpPr>
          <p:nvPr/>
        </p:nvSpPr>
        <p:spPr>
          <a:xfrm xmlns:a="http://schemas.openxmlformats.org/drawingml/2006/main">
            <a:off x="3543300" y="3067050"/>
            <a:ext cx="619125" cy="28575"/>
          </a:xfrm>
          <a:prstGeom xmlns:a="http://schemas.openxmlformats.org/drawingml/2006/main" prst="rect">
            <a:avLst/>
          </a:prstGeom>
          <a:solidFill xmlns:a="http://schemas.openxmlformats.org/drawingml/2006/main">
            <a:srgbClr val="CED9E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CA156AA-6EAA-462E-AD6F-EBEC0D7915AC}"/>
              </a:ext>
            </a:extLst>
          </p:cNvPr>
          <p:cNvSpPr>
            <a:spLocks xmlns:a="http://schemas.openxmlformats.org/drawingml/2006/main" noGrp="1"/>
          </p:cNvSpPr>
          <p:nvPr/>
        </p:nvSpPr>
        <p:spPr>
          <a:xfrm xmlns:a="http://schemas.openxmlformats.org/drawingml/2006/main">
            <a:off x="3543300" y="3333750"/>
            <a:ext cx="18478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2677D"/>
                </a:solidFill>
              </a:defRPr>
            </a:pPr>
            <a:r>
              <a:rPr sz="1425" b="0">
                <a:solidFill>
                  <a:srgbClr val="52677D"/>
                </a:solidFill>
              </a:rPr>
              <a:t>Nhận diện ngành + nhu cầu thông tin</a:t>
            </a:r>
          </a:p>
        </p:txBody>
      </p:sp>
      <p:sp>
        <p:nvSpPr>
          <p:cNvPr id="15" name="">
            <a:extLst xmlns:a="http://schemas.openxmlformats.org/drawingml/2006/main">
              <a:ext uri="{FF2B5EF4-FFF2-40B4-BE49-F238E27FC236}">
                <a16:creationId xmlns:a16="http://schemas.microsoft.com/office/drawing/2014/main" id="{82243CF5-BB8D-4E7B-A1DB-4DA264A01257}"/>
              </a:ext>
            </a:extLst>
          </p:cNvPr>
          <p:cNvSpPr>
            <a:spLocks xmlns:a="http://schemas.openxmlformats.org/drawingml/2006/main" noGrp="1"/>
          </p:cNvSpPr>
          <p:nvPr/>
        </p:nvSpPr>
        <p:spPr>
          <a:xfrm xmlns:a="http://schemas.openxmlformats.org/drawingml/2006/main">
            <a:off x="6057900" y="19050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46A37D"/>
                </a:solidFill>
              </a:defRPr>
            </a:pPr>
            <a:r>
              <a:rPr sz="1950" b="1">
                <a:solidFill>
                  <a:srgbClr val="46A37D"/>
                </a:solidFill>
              </a:rPr>
              <a:t>03</a:t>
            </a:r>
          </a:p>
        </p:txBody>
      </p:sp>
      <p:sp>
        <p:nvSpPr>
          <p:cNvPr id="16" name="">
            <a:extLst xmlns:a="http://schemas.openxmlformats.org/drawingml/2006/main">
              <a:ext uri="{FF2B5EF4-FFF2-40B4-BE49-F238E27FC236}">
                <a16:creationId xmlns:a16="http://schemas.microsoft.com/office/drawing/2014/main" id="{F1038B7F-695B-4FC5-9AF4-B8E4EB947F1E}"/>
              </a:ext>
            </a:extLst>
          </p:cNvPr>
          <p:cNvSpPr>
            <a:spLocks xmlns:a="http://schemas.openxmlformats.org/drawingml/2006/main" noGrp="1"/>
          </p:cNvSpPr>
          <p:nvPr/>
        </p:nvSpPr>
        <p:spPr>
          <a:xfrm xmlns:a="http://schemas.openxmlformats.org/drawingml/2006/main">
            <a:off x="6057900" y="2381250"/>
            <a:ext cx="2266950" cy="2362200"/>
          </a:xfrm>
          <a:prstGeom xmlns:a="http://schemas.openxmlformats.org/drawingml/2006/main" prst="roundRect">
            <a:avLst>
              <a:gd name="adj" fmla="val 3361"/>
            </a:avLst>
          </a:prstGeom>
          <a:solidFill xmlns:a="http://schemas.openxmlformats.org/drawingml/2006/main">
            <a:srgbClr val="F3F7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E640735-7287-4652-9227-8A4DEAF9EB04}"/>
              </a:ext>
            </a:extLst>
          </p:cNvPr>
          <p:cNvSpPr>
            <a:spLocks xmlns:a="http://schemas.openxmlformats.org/drawingml/2006/main" noGrp="1"/>
          </p:cNvSpPr>
          <p:nvPr/>
        </p:nvSpPr>
        <p:spPr>
          <a:xfrm xmlns:a="http://schemas.openxmlformats.org/drawingml/2006/main">
            <a:off x="6267450" y="264795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102A43"/>
                </a:solidFill>
              </a:defRPr>
            </a:pPr>
            <a:r>
              <a:rPr sz="1650" b="1">
                <a:solidFill>
                  <a:srgbClr val="102A43"/>
                </a:solidFill>
              </a:rPr>
              <a:t>Trả lời</a:t>
            </a:r>
          </a:p>
        </p:txBody>
      </p:sp>
      <p:sp>
        <p:nvSpPr>
          <p:cNvPr id="18" name="">
            <a:extLst xmlns:a="http://schemas.openxmlformats.org/drawingml/2006/main">
              <a:ext uri="{FF2B5EF4-FFF2-40B4-BE49-F238E27FC236}">
                <a16:creationId xmlns:a16="http://schemas.microsoft.com/office/drawing/2014/main" id="{1B344AAF-882F-471E-A405-0269DA3199C5}"/>
              </a:ext>
            </a:extLst>
          </p:cNvPr>
          <p:cNvSpPr>
            <a:spLocks xmlns:a="http://schemas.openxmlformats.org/drawingml/2006/main" noGrp="1"/>
          </p:cNvSpPr>
          <p:nvPr/>
        </p:nvSpPr>
        <p:spPr>
          <a:xfrm xmlns:a="http://schemas.openxmlformats.org/drawingml/2006/main">
            <a:off x="6267450" y="3067050"/>
            <a:ext cx="619125" cy="28575"/>
          </a:xfrm>
          <a:prstGeom xmlns:a="http://schemas.openxmlformats.org/drawingml/2006/main" prst="rect">
            <a:avLst/>
          </a:prstGeom>
          <a:solidFill xmlns:a="http://schemas.openxmlformats.org/drawingml/2006/main">
            <a:srgbClr val="CED9E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A3760AE-4CEF-4E62-B9D0-67CB89DDCB75}"/>
              </a:ext>
            </a:extLst>
          </p:cNvPr>
          <p:cNvSpPr>
            <a:spLocks xmlns:a="http://schemas.openxmlformats.org/drawingml/2006/main" noGrp="1"/>
          </p:cNvSpPr>
          <p:nvPr/>
        </p:nvSpPr>
        <p:spPr>
          <a:xfrm xmlns:a="http://schemas.openxmlformats.org/drawingml/2006/main">
            <a:off x="6267450" y="3333750"/>
            <a:ext cx="18478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2677D"/>
                </a:solidFill>
              </a:defRPr>
            </a:pPr>
            <a:r>
              <a:rPr sz="1425" b="0">
                <a:solidFill>
                  <a:srgbClr val="52677D"/>
                </a:solidFill>
              </a:rPr>
              <a:t>Tóm tắt điều kiện, phương thức, liên kết chi tiết</a:t>
            </a:r>
          </a:p>
        </p:txBody>
      </p:sp>
      <p:sp>
        <p:nvSpPr>
          <p:cNvPr id="20" name="">
            <a:extLst xmlns:a="http://schemas.openxmlformats.org/drawingml/2006/main">
              <a:ext uri="{FF2B5EF4-FFF2-40B4-BE49-F238E27FC236}">
                <a16:creationId xmlns:a16="http://schemas.microsoft.com/office/drawing/2014/main" id="{44B89C28-AECC-4D0A-AA20-0F85A8589E17}"/>
              </a:ext>
            </a:extLst>
          </p:cNvPr>
          <p:cNvSpPr>
            <a:spLocks xmlns:a="http://schemas.openxmlformats.org/drawingml/2006/main" noGrp="1"/>
          </p:cNvSpPr>
          <p:nvPr/>
        </p:nvSpPr>
        <p:spPr>
          <a:xfrm xmlns:a="http://schemas.openxmlformats.org/drawingml/2006/main">
            <a:off x="8782050" y="19050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0B3558"/>
                </a:solidFill>
              </a:defRPr>
            </a:pPr>
            <a:r>
              <a:rPr sz="1950" b="1">
                <a:solidFill>
                  <a:srgbClr val="0B3558"/>
                </a:solidFill>
              </a:rPr>
              <a:t>04</a:t>
            </a:r>
          </a:p>
        </p:txBody>
      </p:sp>
      <p:sp>
        <p:nvSpPr>
          <p:cNvPr id="21" name="">
            <a:extLst xmlns:a="http://schemas.openxmlformats.org/drawingml/2006/main">
              <a:ext uri="{FF2B5EF4-FFF2-40B4-BE49-F238E27FC236}">
                <a16:creationId xmlns:a16="http://schemas.microsoft.com/office/drawing/2014/main" id="{9839BF75-7F9A-4C68-95DF-69A5229BCA2E}"/>
              </a:ext>
            </a:extLst>
          </p:cNvPr>
          <p:cNvSpPr>
            <a:spLocks xmlns:a="http://schemas.openxmlformats.org/drawingml/2006/main" noGrp="1"/>
          </p:cNvSpPr>
          <p:nvPr/>
        </p:nvSpPr>
        <p:spPr>
          <a:xfrm xmlns:a="http://schemas.openxmlformats.org/drawingml/2006/main">
            <a:off x="8782050" y="2381250"/>
            <a:ext cx="2266950" cy="2362200"/>
          </a:xfrm>
          <a:prstGeom xmlns:a="http://schemas.openxmlformats.org/drawingml/2006/main" prst="roundRect">
            <a:avLst>
              <a:gd name="adj" fmla="val 3361"/>
            </a:avLst>
          </a:prstGeom>
          <a:solidFill xmlns:a="http://schemas.openxmlformats.org/drawingml/2006/main">
            <a:srgbClr val="0B355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7C6147F-EF96-4540-BF88-9E740767FB90}"/>
              </a:ext>
            </a:extLst>
          </p:cNvPr>
          <p:cNvSpPr>
            <a:spLocks xmlns:a="http://schemas.openxmlformats.org/drawingml/2006/main" noGrp="1"/>
          </p:cNvSpPr>
          <p:nvPr/>
        </p:nvSpPr>
        <p:spPr>
          <a:xfrm xmlns:a="http://schemas.openxmlformats.org/drawingml/2006/main">
            <a:off x="8991600" y="264795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FFFFFF"/>
                </a:solidFill>
              </a:defRPr>
            </a:pPr>
            <a:r>
              <a:rPr sz="1650" b="1">
                <a:solidFill>
                  <a:srgbClr val="FFFFFF"/>
                </a:solidFill>
              </a:rPr>
              <a:t>Điều hướng</a:t>
            </a:r>
          </a:p>
        </p:txBody>
      </p:sp>
      <p:sp>
        <p:nvSpPr>
          <p:cNvPr id="23" name="">
            <a:extLst xmlns:a="http://schemas.openxmlformats.org/drawingml/2006/main">
              <a:ext uri="{FF2B5EF4-FFF2-40B4-BE49-F238E27FC236}">
                <a16:creationId xmlns:a16="http://schemas.microsoft.com/office/drawing/2014/main" id="{344242C0-5BDF-496E-ABA8-35B30C2D3F23}"/>
              </a:ext>
            </a:extLst>
          </p:cNvPr>
          <p:cNvSpPr>
            <a:spLocks xmlns:a="http://schemas.openxmlformats.org/drawingml/2006/main" noGrp="1"/>
          </p:cNvSpPr>
          <p:nvPr/>
        </p:nvSpPr>
        <p:spPr>
          <a:xfrm xmlns:a="http://schemas.openxmlformats.org/drawingml/2006/main">
            <a:off x="8991600" y="3067050"/>
            <a:ext cx="619125" cy="28575"/>
          </a:xfrm>
          <a:prstGeom xmlns:a="http://schemas.openxmlformats.org/drawingml/2006/main" prst="rect">
            <a:avLst/>
          </a:prstGeom>
          <a:solidFill xmlns:a="http://schemas.openxmlformats.org/drawingml/2006/main">
            <a:srgbClr val="62B6E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2E66D92-72EF-4FF6-B1DC-0F7BDEC3F9B1}"/>
              </a:ext>
            </a:extLst>
          </p:cNvPr>
          <p:cNvSpPr>
            <a:spLocks xmlns:a="http://schemas.openxmlformats.org/drawingml/2006/main" noGrp="1"/>
          </p:cNvSpPr>
          <p:nvPr/>
        </p:nvSpPr>
        <p:spPr>
          <a:xfrm xmlns:a="http://schemas.openxmlformats.org/drawingml/2006/main">
            <a:off x="8991600" y="3333750"/>
            <a:ext cx="18478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FFFFFF"/>
                </a:solidFill>
              </a:defRPr>
            </a:pPr>
            <a:r>
              <a:rPr sz="1425" b="0">
                <a:solidFill>
                  <a:srgbClr val="FFFFFF"/>
                </a:solidFill>
              </a:rPr>
              <a:t>“Bạn muốn xem học phí hay cách nộp hồ sơ?”</a:t>
            </a:r>
          </a:p>
        </p:txBody>
      </p:sp>
      <p:sp>
        <p:nvSpPr>
          <p:cNvPr id="25" name="">
            <a:extLst xmlns:a="http://schemas.openxmlformats.org/drawingml/2006/main">
              <a:ext uri="{FF2B5EF4-FFF2-40B4-BE49-F238E27FC236}">
                <a16:creationId xmlns:a16="http://schemas.microsoft.com/office/drawing/2014/main" id="{0C552581-434A-4CAA-A6BC-C4565E29E00D}"/>
              </a:ext>
            </a:extLst>
          </p:cNvPr>
          <p:cNvSpPr>
            <a:spLocks xmlns:a="http://schemas.openxmlformats.org/drawingml/2006/main" noGrp="1"/>
          </p:cNvSpPr>
          <p:nvPr/>
        </p:nvSpPr>
        <p:spPr>
          <a:xfrm xmlns:a="http://schemas.openxmlformats.org/drawingml/2006/main">
            <a:off x="609600" y="5572125"/>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102A43"/>
                </a:solidFill>
              </a:defRPr>
            </a:pPr>
            <a:r>
              <a:rPr sz="1575" b="1">
                <a:solidFill>
                  <a:srgbClr val="102A43"/>
                </a:solidFill>
              </a:rPr>
              <a:t>Thiết kế hội thoại tốt không chỉ trả lời đúng — mà còn giúp thí sinh biết bước tiếp theo cần làm.</a:t>
            </a:r>
          </a:p>
        </p:txBody>
      </p:sp>
      <p:sp>
        <p:nvSpPr>
          <p:cNvPr id="26" name="">
            <a:extLst xmlns:a="http://schemas.openxmlformats.org/drawingml/2006/main">
              <a:ext uri="{FF2B5EF4-FFF2-40B4-BE49-F238E27FC236}">
                <a16:creationId xmlns:a16="http://schemas.microsoft.com/office/drawing/2014/main" id="{E2FB7BA1-6C57-4538-9E4F-42001E6C7032}"/>
              </a:ext>
            </a:extLst>
          </p:cNvPr>
          <p:cNvSpPr>
            <a:spLocks xmlns:a="http://schemas.openxmlformats.org/drawingml/2006/main" noGrp="1"/>
          </p:cNvSpPr>
          <p:nvPr/>
        </p:nvSpPr>
        <p:spPr>
          <a:xfrm xmlns:a="http://schemas.openxmlformats.org/drawingml/2006/main">
            <a:off x="6096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0">
                <a:solidFill>
                  <a:srgbClr val="52677D"/>
                </a:solidFill>
              </a:defRPr>
            </a:pPr>
            <a:r>
              <a:rPr sz="900" b="0">
                <a:solidFill>
                  <a:srgbClr val="52677D"/>
                </a:solidFill>
              </a:rPr>
              <a:t>Đại học Công nghệ Đông Á · Hệ thống hỏi đáp tuyển sinh</a:t>
            </a:r>
          </a:p>
        </p:txBody>
      </p:sp>
      <p:sp>
        <p:nvSpPr>
          <p:cNvPr id="27" name="">
            <a:extLst xmlns:a="http://schemas.openxmlformats.org/drawingml/2006/main">
              <a:ext uri="{FF2B5EF4-FFF2-40B4-BE49-F238E27FC236}">
                <a16:creationId xmlns:a16="http://schemas.microsoft.com/office/drawing/2014/main" id="{3E62D385-7A26-44FC-9666-67905A32B266}"/>
              </a:ext>
            </a:extLst>
          </p:cNvPr>
          <p:cNvSpPr>
            <a:spLocks xmlns:a="http://schemas.openxmlformats.org/drawingml/2006/main" noGrp="1"/>
          </p:cNvSpPr>
          <p:nvPr/>
        </p:nvSpPr>
        <p:spPr>
          <a:xfrm xmlns:a="http://schemas.openxmlformats.org/drawingml/2006/main">
            <a:off x="11239500" y="64198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2677D"/>
                </a:solidFill>
              </a:defRPr>
            </a:pPr>
            <a:r>
              <a:rPr sz="900" b="1">
                <a:solidFill>
                  <a:srgbClr val="52677D"/>
                </a:solidFill>
              </a:rPr>
              <a:t>6</a:t>
            </a:r>
          </a:p>
        </p:txBody>
      </p:sp>
      <p:sp>
        <p:nvSpPr>
          <p:cNvPr id="29" name="">
            <a:extLst xmlns:a="http://schemas.openxmlformats.org/drawingml/2006/main">
              <a:ext uri="{FF2B5EF4-FFF2-40B4-BE49-F238E27FC236}">
                <a16:creationId xmlns:a16="http://schemas.microsoft.com/office/drawing/2014/main" id="{D7A480A5-39C8-4AB0-AA90-8E85B7C215DB}"/>
              </a:ext>
            </a:extLst>
          </p:cNvPr>
          <p:cNvSpPr>
            <a:spLocks xmlns:a="http://schemas.openxmlformats.org/drawingml/2006/main" noGrp="1"/>
          </p:cNvSpPr>
          <p:nvPr/>
        </p:nvSpPr>
        <p:spPr>
          <a:xfrm xmlns:a="http://schemas.openxmlformats.org/drawingml/2006/main">
            <a:off x="10115550" y="438150"/>
            <a:ext cx="10096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5fbc72a82e524fbc"/>
          <a:stretch xmlns:a="http://schemas.openxmlformats.org/drawingml/2006/main"/>
        </p:blipFill>
        <p:spPr>
          <a:xfrm xmlns:a="http://schemas.openxmlformats.org/drawingml/2006/main">
            <a:off x="10286061" y="476250"/>
            <a:ext cx="668627" cy="60960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1D9BAB9D-AC70-402B-9962-FC167E8D9E95}"/>
              </a:ext>
            </a:extLst>
          </p:cNvPr>
          <p:cNvSpPr>
            <a:spLocks xmlns:a="http://schemas.openxmlformats.org/drawingml/2006/main" noGrp="1"/>
          </p:cNvSpPr>
          <p:nvPr/>
        </p:nvSpPr>
        <p:spPr>
          <a:xfrm xmlns:a="http://schemas.openxmlformats.org/drawingml/2006/main">
            <a:off x="8763000" y="514350"/>
            <a:ext cx="1219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1769AA"/>
                </a:solidFill>
              </a:defRPr>
            </a:pPr>
            <a:r>
              <a:rPr sz="825" b="1">
                <a:solidFill>
                  <a:srgbClr val="1769AA"/>
                </a:solidFill>
              </a:rPr>
              <a:t>EAUT · AI ADMISSIONS</a:t>
            </a:r>
          </a:p>
        </p:txBody>
      </p:sp>
    </p:spTree>
    <p:extLst>
      <p:ext uri="{BB962C8B-B14F-4D97-AF65-F5344CB8AC3E}">
        <p14:creationId xmlns:p14="http://schemas.microsoft.com/office/powerpoint/2010/main" val="116773397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A45E759-DFC5-479F-A997-6B6A8CC0CF9E}"/>
              </a:ext>
            </a:extLst>
          </p:cNvPr>
          <p:cNvSpPr>
            <a:spLocks xmlns:a="http://schemas.openxmlformats.org/drawingml/2006/main" noGrp="1"/>
          </p:cNvSpPr>
          <p:nvPr/>
        </p:nvSpPr>
        <p:spPr>
          <a:xfrm xmlns:a="http://schemas.openxmlformats.org/drawingml/2006/main">
            <a:off x="6096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1769AA"/>
                </a:solidFill>
              </a:defRPr>
            </a:pPr>
            <a:r>
              <a:rPr sz="1050" b="1">
                <a:solidFill>
                  <a:srgbClr val="1769AA"/>
                </a:solidFill>
              </a:rPr>
              <a:t>DỰ ÁN HỌC PHẦN · TRÍ TUỆ NHÂN TẠO</a:t>
            </a:r>
          </a:p>
        </p:txBody>
      </p:sp>
      <p:sp>
        <p:nvSpPr>
          <p:cNvPr id="2" name="">
            <a:extLst xmlns:a="http://schemas.openxmlformats.org/drawingml/2006/main">
              <a:ext uri="{FF2B5EF4-FFF2-40B4-BE49-F238E27FC236}">
                <a16:creationId xmlns:a16="http://schemas.microsoft.com/office/drawing/2014/main" id="{2739BDD1-6620-44E0-8F4E-0ADFB82FE368}"/>
              </a:ext>
            </a:extLst>
          </p:cNvPr>
          <p:cNvSpPr>
            <a:spLocks xmlns:a="http://schemas.openxmlformats.org/drawingml/2006/main" noGrp="1"/>
          </p:cNvSpPr>
          <p:nvPr/>
        </p:nvSpPr>
        <p:spPr>
          <a:xfrm xmlns:a="http://schemas.openxmlformats.org/drawingml/2006/main">
            <a:off x="609600" y="68580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02A43"/>
                </a:solidFill>
              </a:defRPr>
            </a:pPr>
            <a:r>
              <a:rPr sz="2700" b="1">
                <a:solidFill>
                  <a:srgbClr val="102A43"/>
                </a:solidFill>
              </a:rPr>
              <a:t>Giá trị và hạn chế của giải pháp</a:t>
            </a:r>
          </a:p>
        </p:txBody>
      </p:sp>
      <p:sp>
        <p:nvSpPr>
          <p:cNvPr id="3" name="">
            <a:extLst xmlns:a="http://schemas.openxmlformats.org/drawingml/2006/main">
              <a:ext uri="{FF2B5EF4-FFF2-40B4-BE49-F238E27FC236}">
                <a16:creationId xmlns:a16="http://schemas.microsoft.com/office/drawing/2014/main" id="{1337E8B5-B809-45A3-812D-FC5673BFD985}"/>
              </a:ext>
            </a:extLst>
          </p:cNvPr>
          <p:cNvSpPr>
            <a:spLocks xmlns:a="http://schemas.openxmlformats.org/drawingml/2006/main" noGrp="1"/>
          </p:cNvSpPr>
          <p:nvPr/>
        </p:nvSpPr>
        <p:spPr>
          <a:xfrm xmlns:a="http://schemas.openxmlformats.org/drawingml/2006/main">
            <a:off x="10953750" y="36195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125" b="1">
                <a:solidFill>
                  <a:srgbClr val="52677D"/>
                </a:solidFill>
              </a:defRPr>
            </a:pPr>
            <a:r>
              <a:rPr sz="1125" b="1">
                <a:solidFill>
                  <a:srgbClr val="52677D"/>
                </a:solidFill>
              </a:rPr>
              <a:t>07</a:t>
            </a:r>
          </a:p>
        </p:txBody>
      </p:sp>
      <p:sp>
        <p:nvSpPr>
          <p:cNvPr id="4" name="">
            <a:extLst xmlns:a="http://schemas.openxmlformats.org/drawingml/2006/main">
              <a:ext uri="{FF2B5EF4-FFF2-40B4-BE49-F238E27FC236}">
                <a16:creationId xmlns:a16="http://schemas.microsoft.com/office/drawing/2014/main" id="{F2E04661-D80D-402C-B487-E1CFCBB4CAF8}"/>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CED9E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246CA04-28D0-4ACE-B8F6-83F5575DE40C}"/>
              </a:ext>
            </a:extLst>
          </p:cNvPr>
          <p:cNvSpPr>
            <a:spLocks xmlns:a="http://schemas.openxmlformats.org/drawingml/2006/main" noGrp="1"/>
          </p:cNvSpPr>
          <p:nvPr/>
        </p:nvSpPr>
        <p:spPr>
          <a:xfrm xmlns:a="http://schemas.openxmlformats.org/drawingml/2006/main">
            <a:off x="609600" y="17526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46A37D"/>
                </a:solidFill>
              </a:defRPr>
            </a:pPr>
            <a:r>
              <a:rPr sz="1350" b="1">
                <a:solidFill>
                  <a:srgbClr val="46A37D"/>
                </a:solidFill>
              </a:rPr>
              <a:t>ƯU ĐIỂM</a:t>
            </a:r>
          </a:p>
        </p:txBody>
      </p:sp>
      <p:sp>
        <p:nvSpPr>
          <p:cNvPr id="6" name="">
            <a:extLst xmlns:a="http://schemas.openxmlformats.org/drawingml/2006/main">
              <a:ext uri="{FF2B5EF4-FFF2-40B4-BE49-F238E27FC236}">
                <a16:creationId xmlns:a16="http://schemas.microsoft.com/office/drawing/2014/main" id="{53173958-10BD-4733-8BF1-B414F36ECEDE}"/>
              </a:ext>
            </a:extLst>
          </p:cNvPr>
          <p:cNvSpPr>
            <a:spLocks xmlns:a="http://schemas.openxmlformats.org/drawingml/2006/main" noGrp="1"/>
          </p:cNvSpPr>
          <p:nvPr/>
        </p:nvSpPr>
        <p:spPr>
          <a:xfrm xmlns:a="http://schemas.openxmlformats.org/drawingml/2006/main">
            <a:off x="6191250" y="1752600"/>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E56B6F"/>
                </a:solidFill>
              </a:defRPr>
            </a:pPr>
            <a:r>
              <a:rPr sz="1350" b="1">
                <a:solidFill>
                  <a:srgbClr val="E56B6F"/>
                </a:solidFill>
              </a:rPr>
              <a:t>HẠN CHẾ / RỦI RO</a:t>
            </a:r>
          </a:p>
        </p:txBody>
      </p:sp>
      <p:sp>
        <p:nvSpPr>
          <p:cNvPr id="7" name="">
            <a:extLst xmlns:a="http://schemas.openxmlformats.org/drawingml/2006/main">
              <a:ext uri="{FF2B5EF4-FFF2-40B4-BE49-F238E27FC236}">
                <a16:creationId xmlns:a16="http://schemas.microsoft.com/office/drawing/2014/main" id="{9302AA94-C98F-41BF-8CA4-3BB6B7FDA469}"/>
              </a:ext>
            </a:extLst>
          </p:cNvPr>
          <p:cNvSpPr>
            <a:spLocks xmlns:a="http://schemas.openxmlformats.org/drawingml/2006/main" noGrp="1"/>
          </p:cNvSpPr>
          <p:nvPr/>
        </p:nvSpPr>
        <p:spPr>
          <a:xfrm xmlns:a="http://schemas.openxmlformats.org/drawingml/2006/main">
            <a:off x="609600" y="2114550"/>
            <a:ext cx="4762500" cy="38100"/>
          </a:xfrm>
          <a:prstGeom xmlns:a="http://schemas.openxmlformats.org/drawingml/2006/main" prst="rect">
            <a:avLst/>
          </a:prstGeom>
          <a:solidFill xmlns:a="http://schemas.openxmlformats.org/drawingml/2006/main">
            <a:srgbClr val="46A3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0BBB727-4FE9-4D58-9833-4DDDA73701DB}"/>
              </a:ext>
            </a:extLst>
          </p:cNvPr>
          <p:cNvSpPr>
            <a:spLocks xmlns:a="http://schemas.openxmlformats.org/drawingml/2006/main" noGrp="1"/>
          </p:cNvSpPr>
          <p:nvPr/>
        </p:nvSpPr>
        <p:spPr>
          <a:xfrm xmlns:a="http://schemas.openxmlformats.org/drawingml/2006/main">
            <a:off x="6191250" y="2114550"/>
            <a:ext cx="4762500" cy="38100"/>
          </a:xfrm>
          <a:prstGeom xmlns:a="http://schemas.openxmlformats.org/drawingml/2006/main" prst="rect">
            <a:avLst/>
          </a:prstGeom>
          <a:solidFill xmlns:a="http://schemas.openxmlformats.org/drawingml/2006/main">
            <a:srgbClr val="E56B6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19F06F0-73CB-4F9B-8CCC-5A5395CB4C7F}"/>
              </a:ext>
            </a:extLst>
          </p:cNvPr>
          <p:cNvSpPr>
            <a:spLocks xmlns:a="http://schemas.openxmlformats.org/drawingml/2006/main" noGrp="1"/>
          </p:cNvSpPr>
          <p:nvPr/>
        </p:nvSpPr>
        <p:spPr>
          <a:xfrm xmlns:a="http://schemas.openxmlformats.org/drawingml/2006/main">
            <a:off x="609600" y="24765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46A37D"/>
                </a:solidFill>
              </a:defRPr>
            </a:pPr>
            <a:r>
              <a:rPr sz="1650" b="1">
                <a:solidFill>
                  <a:srgbClr val="46A37D"/>
                </a:solidFill>
              </a:rPr>
              <a:t>✓</a:t>
            </a:r>
          </a:p>
        </p:txBody>
      </p:sp>
      <p:sp>
        <p:nvSpPr>
          <p:cNvPr id="10" name="">
            <a:extLst xmlns:a="http://schemas.openxmlformats.org/drawingml/2006/main">
              <a:ext uri="{FF2B5EF4-FFF2-40B4-BE49-F238E27FC236}">
                <a16:creationId xmlns:a16="http://schemas.microsoft.com/office/drawing/2014/main" id="{42B62A6C-96B5-474B-BB86-0112414C5F2B}"/>
              </a:ext>
            </a:extLst>
          </p:cNvPr>
          <p:cNvSpPr>
            <a:spLocks xmlns:a="http://schemas.openxmlformats.org/drawingml/2006/main" noGrp="1"/>
          </p:cNvSpPr>
          <p:nvPr/>
        </p:nvSpPr>
        <p:spPr>
          <a:xfrm xmlns:a="http://schemas.openxmlformats.org/drawingml/2006/main">
            <a:off x="990600" y="24193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102A43"/>
                </a:solidFill>
              </a:defRPr>
            </a:pPr>
            <a:r>
              <a:rPr sz="1500" b="0">
                <a:solidFill>
                  <a:srgbClr val="102A43"/>
                </a:solidFill>
              </a:rPr>
              <a:t>Giảm tải câu hỏi lặp lại cho bộ phận tư vấn</a:t>
            </a:r>
          </a:p>
        </p:txBody>
      </p:sp>
      <p:sp>
        <p:nvSpPr>
          <p:cNvPr id="11" name="">
            <a:extLst xmlns:a="http://schemas.openxmlformats.org/drawingml/2006/main">
              <a:ext uri="{FF2B5EF4-FFF2-40B4-BE49-F238E27FC236}">
                <a16:creationId xmlns:a16="http://schemas.microsoft.com/office/drawing/2014/main" id="{9ADA395E-BBD3-4563-A91B-F9750CA16A99}"/>
              </a:ext>
            </a:extLst>
          </p:cNvPr>
          <p:cNvSpPr>
            <a:spLocks xmlns:a="http://schemas.openxmlformats.org/drawingml/2006/main" noGrp="1"/>
          </p:cNvSpPr>
          <p:nvPr/>
        </p:nvSpPr>
        <p:spPr>
          <a:xfrm xmlns:a="http://schemas.openxmlformats.org/drawingml/2006/main">
            <a:off x="609600" y="31432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46A37D"/>
                </a:solidFill>
              </a:defRPr>
            </a:pPr>
            <a:r>
              <a:rPr sz="1650" b="1">
                <a:solidFill>
                  <a:srgbClr val="46A37D"/>
                </a:solidFill>
              </a:rPr>
              <a:t>✓</a:t>
            </a:r>
          </a:p>
        </p:txBody>
      </p:sp>
      <p:sp>
        <p:nvSpPr>
          <p:cNvPr id="12" name="">
            <a:extLst xmlns:a="http://schemas.openxmlformats.org/drawingml/2006/main">
              <a:ext uri="{FF2B5EF4-FFF2-40B4-BE49-F238E27FC236}">
                <a16:creationId xmlns:a16="http://schemas.microsoft.com/office/drawing/2014/main" id="{6ECA52ED-3A21-49DF-BEDC-5EA38491E7B8}"/>
              </a:ext>
            </a:extLst>
          </p:cNvPr>
          <p:cNvSpPr>
            <a:spLocks xmlns:a="http://schemas.openxmlformats.org/drawingml/2006/main" noGrp="1"/>
          </p:cNvSpPr>
          <p:nvPr/>
        </p:nvSpPr>
        <p:spPr>
          <a:xfrm xmlns:a="http://schemas.openxmlformats.org/drawingml/2006/main">
            <a:off x="990600" y="308610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102A43"/>
                </a:solidFill>
              </a:defRPr>
            </a:pPr>
            <a:r>
              <a:rPr sz="1500" b="0">
                <a:solidFill>
                  <a:srgbClr val="102A43"/>
                </a:solidFill>
              </a:rPr>
              <a:t>Phản hồi nhanh, đồng nhất, hoạt động liên tục</a:t>
            </a:r>
          </a:p>
        </p:txBody>
      </p:sp>
      <p:sp>
        <p:nvSpPr>
          <p:cNvPr id="13" name="">
            <a:extLst xmlns:a="http://schemas.openxmlformats.org/drawingml/2006/main">
              <a:ext uri="{FF2B5EF4-FFF2-40B4-BE49-F238E27FC236}">
                <a16:creationId xmlns:a16="http://schemas.microsoft.com/office/drawing/2014/main" id="{ABB6983A-4574-4DF4-8306-FAC5C3933CCD}"/>
              </a:ext>
            </a:extLst>
          </p:cNvPr>
          <p:cNvSpPr>
            <a:spLocks xmlns:a="http://schemas.openxmlformats.org/drawingml/2006/main" noGrp="1"/>
          </p:cNvSpPr>
          <p:nvPr/>
        </p:nvSpPr>
        <p:spPr>
          <a:xfrm xmlns:a="http://schemas.openxmlformats.org/drawingml/2006/main">
            <a:off x="609600" y="38100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46A37D"/>
                </a:solidFill>
              </a:defRPr>
            </a:pPr>
            <a:r>
              <a:rPr sz="1650" b="1">
                <a:solidFill>
                  <a:srgbClr val="46A37D"/>
                </a:solidFill>
              </a:rPr>
              <a:t>✓</a:t>
            </a:r>
          </a:p>
        </p:txBody>
      </p:sp>
      <p:sp>
        <p:nvSpPr>
          <p:cNvPr id="14" name="">
            <a:extLst xmlns:a="http://schemas.openxmlformats.org/drawingml/2006/main">
              <a:ext uri="{FF2B5EF4-FFF2-40B4-BE49-F238E27FC236}">
                <a16:creationId xmlns:a16="http://schemas.microsoft.com/office/drawing/2014/main" id="{9FC87F61-8156-43AA-872A-8F8479C75DE8}"/>
              </a:ext>
            </a:extLst>
          </p:cNvPr>
          <p:cNvSpPr>
            <a:spLocks xmlns:a="http://schemas.openxmlformats.org/drawingml/2006/main" noGrp="1"/>
          </p:cNvSpPr>
          <p:nvPr/>
        </p:nvSpPr>
        <p:spPr>
          <a:xfrm xmlns:a="http://schemas.openxmlformats.org/drawingml/2006/main">
            <a:off x="990600" y="37528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102A43"/>
                </a:solidFill>
              </a:defRPr>
            </a:pPr>
            <a:r>
              <a:rPr sz="1500" b="0">
                <a:solidFill>
                  <a:srgbClr val="102A43"/>
                </a:solidFill>
              </a:rPr>
              <a:t>Dễ cập nhật tri thức theo mùa tuyển sinh</a:t>
            </a:r>
          </a:p>
        </p:txBody>
      </p:sp>
      <p:sp>
        <p:nvSpPr>
          <p:cNvPr id="15" name="">
            <a:extLst xmlns:a="http://schemas.openxmlformats.org/drawingml/2006/main">
              <a:ext uri="{FF2B5EF4-FFF2-40B4-BE49-F238E27FC236}">
                <a16:creationId xmlns:a16="http://schemas.microsoft.com/office/drawing/2014/main" id="{2482E720-BEBC-4D6B-A8C9-F11DBEE59992}"/>
              </a:ext>
            </a:extLst>
          </p:cNvPr>
          <p:cNvSpPr>
            <a:spLocks xmlns:a="http://schemas.openxmlformats.org/drawingml/2006/main" noGrp="1"/>
          </p:cNvSpPr>
          <p:nvPr/>
        </p:nvSpPr>
        <p:spPr>
          <a:xfrm xmlns:a="http://schemas.openxmlformats.org/drawingml/2006/main">
            <a:off x="609600" y="4476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46A37D"/>
                </a:solidFill>
              </a:defRPr>
            </a:pPr>
            <a:r>
              <a:rPr sz="1650" b="1">
                <a:solidFill>
                  <a:srgbClr val="46A37D"/>
                </a:solidFill>
              </a:rPr>
              <a:t>✓</a:t>
            </a:r>
          </a:p>
        </p:txBody>
      </p:sp>
      <p:sp>
        <p:nvSpPr>
          <p:cNvPr id="16" name="">
            <a:extLst xmlns:a="http://schemas.openxmlformats.org/drawingml/2006/main">
              <a:ext uri="{FF2B5EF4-FFF2-40B4-BE49-F238E27FC236}">
                <a16:creationId xmlns:a16="http://schemas.microsoft.com/office/drawing/2014/main" id="{D84F31EC-B58C-4FD3-8390-233EBC5F779E}"/>
              </a:ext>
            </a:extLst>
          </p:cNvPr>
          <p:cNvSpPr>
            <a:spLocks xmlns:a="http://schemas.openxmlformats.org/drawingml/2006/main" noGrp="1"/>
          </p:cNvSpPr>
          <p:nvPr/>
        </p:nvSpPr>
        <p:spPr>
          <a:xfrm xmlns:a="http://schemas.openxmlformats.org/drawingml/2006/main">
            <a:off x="990600" y="441960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102A43"/>
                </a:solidFill>
              </a:defRPr>
            </a:pPr>
            <a:r>
              <a:rPr sz="1500" b="0">
                <a:solidFill>
                  <a:srgbClr val="102A43"/>
                </a:solidFill>
              </a:rPr>
              <a:t>Có thể phân tích câu hỏi phổ biến để cải thiện nội dung</a:t>
            </a:r>
          </a:p>
        </p:txBody>
      </p:sp>
      <p:sp>
        <p:nvSpPr>
          <p:cNvPr id="17" name="">
            <a:extLst xmlns:a="http://schemas.openxmlformats.org/drawingml/2006/main">
              <a:ext uri="{FF2B5EF4-FFF2-40B4-BE49-F238E27FC236}">
                <a16:creationId xmlns:a16="http://schemas.microsoft.com/office/drawing/2014/main" id="{4B75CDD3-4A95-4669-B931-07ECFED1A3AB}"/>
              </a:ext>
            </a:extLst>
          </p:cNvPr>
          <p:cNvSpPr>
            <a:spLocks xmlns:a="http://schemas.openxmlformats.org/drawingml/2006/main" noGrp="1"/>
          </p:cNvSpPr>
          <p:nvPr/>
        </p:nvSpPr>
        <p:spPr>
          <a:xfrm xmlns:a="http://schemas.openxmlformats.org/drawingml/2006/main">
            <a:off x="6191250" y="24765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E56B6F"/>
                </a:solidFill>
              </a:defRPr>
            </a:pPr>
            <a:r>
              <a:rPr sz="1650" b="1">
                <a:solidFill>
                  <a:srgbClr val="E56B6F"/>
                </a:solidFill>
              </a:rPr>
              <a:t>!</a:t>
            </a:r>
          </a:p>
        </p:txBody>
      </p:sp>
      <p:sp>
        <p:nvSpPr>
          <p:cNvPr id="18" name="">
            <a:extLst xmlns:a="http://schemas.openxmlformats.org/drawingml/2006/main">
              <a:ext uri="{FF2B5EF4-FFF2-40B4-BE49-F238E27FC236}">
                <a16:creationId xmlns:a16="http://schemas.microsoft.com/office/drawing/2014/main" id="{B20D2317-9D6D-4355-BC32-3D896A3FAD1A}"/>
              </a:ext>
            </a:extLst>
          </p:cNvPr>
          <p:cNvSpPr>
            <a:spLocks xmlns:a="http://schemas.openxmlformats.org/drawingml/2006/main" noGrp="1"/>
          </p:cNvSpPr>
          <p:nvPr/>
        </p:nvSpPr>
        <p:spPr>
          <a:xfrm xmlns:a="http://schemas.openxmlformats.org/drawingml/2006/main">
            <a:off x="6572250" y="24193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102A43"/>
                </a:solidFill>
              </a:defRPr>
            </a:pPr>
            <a:r>
              <a:rPr sz="1500" b="0">
                <a:solidFill>
                  <a:srgbClr val="102A43"/>
                </a:solidFill>
              </a:rPr>
              <a:t>Thông tin lỗi thời sẽ dẫn đến câu trả lời sai</a:t>
            </a:r>
          </a:p>
        </p:txBody>
      </p:sp>
      <p:sp>
        <p:nvSpPr>
          <p:cNvPr id="19" name="">
            <a:extLst xmlns:a="http://schemas.openxmlformats.org/drawingml/2006/main">
              <a:ext uri="{FF2B5EF4-FFF2-40B4-BE49-F238E27FC236}">
                <a16:creationId xmlns:a16="http://schemas.microsoft.com/office/drawing/2014/main" id="{101AA12D-E3A8-4B1F-BFCB-22425F2740A9}"/>
              </a:ext>
            </a:extLst>
          </p:cNvPr>
          <p:cNvSpPr>
            <a:spLocks xmlns:a="http://schemas.openxmlformats.org/drawingml/2006/main" noGrp="1"/>
          </p:cNvSpPr>
          <p:nvPr/>
        </p:nvSpPr>
        <p:spPr>
          <a:xfrm xmlns:a="http://schemas.openxmlformats.org/drawingml/2006/main">
            <a:off x="6191250" y="31432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E56B6F"/>
                </a:solidFill>
              </a:defRPr>
            </a:pPr>
            <a:r>
              <a:rPr sz="1650" b="1">
                <a:solidFill>
                  <a:srgbClr val="E56B6F"/>
                </a:solidFill>
              </a:rPr>
              <a:t>!</a:t>
            </a:r>
          </a:p>
        </p:txBody>
      </p:sp>
      <p:sp>
        <p:nvSpPr>
          <p:cNvPr id="20" name="">
            <a:extLst xmlns:a="http://schemas.openxmlformats.org/drawingml/2006/main">
              <a:ext uri="{FF2B5EF4-FFF2-40B4-BE49-F238E27FC236}">
                <a16:creationId xmlns:a16="http://schemas.microsoft.com/office/drawing/2014/main" id="{C82C3179-99C2-44FB-9FB3-8B570487DFC7}"/>
              </a:ext>
            </a:extLst>
          </p:cNvPr>
          <p:cNvSpPr>
            <a:spLocks xmlns:a="http://schemas.openxmlformats.org/drawingml/2006/main" noGrp="1"/>
          </p:cNvSpPr>
          <p:nvPr/>
        </p:nvSpPr>
        <p:spPr>
          <a:xfrm xmlns:a="http://schemas.openxmlformats.org/drawingml/2006/main">
            <a:off x="6572250" y="30861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102A43"/>
                </a:solidFill>
              </a:defRPr>
            </a:pPr>
            <a:r>
              <a:rPr sz="1500" b="0">
                <a:solidFill>
                  <a:srgbClr val="102A43"/>
                </a:solidFill>
              </a:rPr>
              <a:t>Câu hỏi mơ hồ hoặc ngoài dữ liệu làm giảm độ tin cậy</a:t>
            </a:r>
          </a:p>
        </p:txBody>
      </p:sp>
      <p:sp>
        <p:nvSpPr>
          <p:cNvPr id="21" name="">
            <a:extLst xmlns:a="http://schemas.openxmlformats.org/drawingml/2006/main">
              <a:ext uri="{FF2B5EF4-FFF2-40B4-BE49-F238E27FC236}">
                <a16:creationId xmlns:a16="http://schemas.microsoft.com/office/drawing/2014/main" id="{875ADD04-8B60-4168-9478-52056307AACA}"/>
              </a:ext>
            </a:extLst>
          </p:cNvPr>
          <p:cNvSpPr>
            <a:spLocks xmlns:a="http://schemas.openxmlformats.org/drawingml/2006/main" noGrp="1"/>
          </p:cNvSpPr>
          <p:nvPr/>
        </p:nvSpPr>
        <p:spPr>
          <a:xfrm xmlns:a="http://schemas.openxmlformats.org/drawingml/2006/main">
            <a:off x="6191250" y="38100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E56B6F"/>
                </a:solidFill>
              </a:defRPr>
            </a:pPr>
            <a:r>
              <a:rPr sz="1650" b="1">
                <a:solidFill>
                  <a:srgbClr val="E56B6F"/>
                </a:solidFill>
              </a:rPr>
              <a:t>!</a:t>
            </a:r>
          </a:p>
        </p:txBody>
      </p:sp>
      <p:sp>
        <p:nvSpPr>
          <p:cNvPr id="22" name="">
            <a:extLst xmlns:a="http://schemas.openxmlformats.org/drawingml/2006/main">
              <a:ext uri="{FF2B5EF4-FFF2-40B4-BE49-F238E27FC236}">
                <a16:creationId xmlns:a16="http://schemas.microsoft.com/office/drawing/2014/main" id="{F9B7FB26-05A6-43B6-B408-A13EAA92C383}"/>
              </a:ext>
            </a:extLst>
          </p:cNvPr>
          <p:cNvSpPr>
            <a:spLocks xmlns:a="http://schemas.openxmlformats.org/drawingml/2006/main" noGrp="1"/>
          </p:cNvSpPr>
          <p:nvPr/>
        </p:nvSpPr>
        <p:spPr>
          <a:xfrm xmlns:a="http://schemas.openxmlformats.org/drawingml/2006/main">
            <a:off x="6572250" y="37528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102A43"/>
                </a:solidFill>
              </a:defRPr>
            </a:pPr>
            <a:r>
              <a:rPr sz="1500" b="0">
                <a:solidFill>
                  <a:srgbClr val="102A43"/>
                </a:solidFill>
              </a:rPr>
              <a:t>Cần bảo vệ dữ liệu cá nhân và kiểm soát nội dung</a:t>
            </a:r>
          </a:p>
        </p:txBody>
      </p:sp>
      <p:sp>
        <p:nvSpPr>
          <p:cNvPr id="23" name="">
            <a:extLst xmlns:a="http://schemas.openxmlformats.org/drawingml/2006/main">
              <a:ext uri="{FF2B5EF4-FFF2-40B4-BE49-F238E27FC236}">
                <a16:creationId xmlns:a16="http://schemas.microsoft.com/office/drawing/2014/main" id="{69911535-8D14-4538-81B6-2FE007397078}"/>
              </a:ext>
            </a:extLst>
          </p:cNvPr>
          <p:cNvSpPr>
            <a:spLocks xmlns:a="http://schemas.openxmlformats.org/drawingml/2006/main" noGrp="1"/>
          </p:cNvSpPr>
          <p:nvPr/>
        </p:nvSpPr>
        <p:spPr>
          <a:xfrm xmlns:a="http://schemas.openxmlformats.org/drawingml/2006/main">
            <a:off x="6191250" y="4476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E56B6F"/>
                </a:solidFill>
              </a:defRPr>
            </a:pPr>
            <a:r>
              <a:rPr sz="1650" b="1">
                <a:solidFill>
                  <a:srgbClr val="E56B6F"/>
                </a:solidFill>
              </a:rPr>
              <a:t>!</a:t>
            </a:r>
          </a:p>
        </p:txBody>
      </p:sp>
      <p:sp>
        <p:nvSpPr>
          <p:cNvPr id="24" name="">
            <a:extLst xmlns:a="http://schemas.openxmlformats.org/drawingml/2006/main">
              <a:ext uri="{FF2B5EF4-FFF2-40B4-BE49-F238E27FC236}">
                <a16:creationId xmlns:a16="http://schemas.microsoft.com/office/drawing/2014/main" id="{3858B3C1-04D3-4D76-BEB0-600CA97D9EBC}"/>
              </a:ext>
            </a:extLst>
          </p:cNvPr>
          <p:cNvSpPr>
            <a:spLocks xmlns:a="http://schemas.openxmlformats.org/drawingml/2006/main" noGrp="1"/>
          </p:cNvSpPr>
          <p:nvPr/>
        </p:nvSpPr>
        <p:spPr>
          <a:xfrm xmlns:a="http://schemas.openxmlformats.org/drawingml/2006/main">
            <a:off x="6572250" y="44196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102A43"/>
                </a:solidFill>
              </a:defRPr>
            </a:pPr>
            <a:r>
              <a:rPr sz="1500" b="0">
                <a:solidFill>
                  <a:srgbClr val="102A43"/>
                </a:solidFill>
              </a:rPr>
              <a:t>Không thay thế tư vấn viên trong các tình huống đặc biệt</a:t>
            </a:r>
          </a:p>
        </p:txBody>
      </p:sp>
      <p:sp>
        <p:nvSpPr>
          <p:cNvPr id="25" name="">
            <a:extLst xmlns:a="http://schemas.openxmlformats.org/drawingml/2006/main">
              <a:ext uri="{FF2B5EF4-FFF2-40B4-BE49-F238E27FC236}">
                <a16:creationId xmlns:a16="http://schemas.microsoft.com/office/drawing/2014/main" id="{B53E37CF-F1D8-400D-9BD1-D2E43FF6C2BA}"/>
              </a:ext>
            </a:extLst>
          </p:cNvPr>
          <p:cNvSpPr>
            <a:spLocks xmlns:a="http://schemas.openxmlformats.org/drawingml/2006/main" noGrp="1"/>
          </p:cNvSpPr>
          <p:nvPr/>
        </p:nvSpPr>
        <p:spPr>
          <a:xfrm xmlns:a="http://schemas.openxmlformats.org/drawingml/2006/main">
            <a:off x="6096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0">
                <a:solidFill>
                  <a:srgbClr val="52677D"/>
                </a:solidFill>
              </a:defRPr>
            </a:pPr>
            <a:r>
              <a:rPr sz="900" b="0">
                <a:solidFill>
                  <a:srgbClr val="52677D"/>
                </a:solidFill>
              </a:rPr>
              <a:t>Đại học Công nghệ Đông Á · Hệ thống hỏi đáp tuyển sinh</a:t>
            </a:r>
          </a:p>
        </p:txBody>
      </p:sp>
      <p:sp>
        <p:nvSpPr>
          <p:cNvPr id="26" name="">
            <a:extLst xmlns:a="http://schemas.openxmlformats.org/drawingml/2006/main">
              <a:ext uri="{FF2B5EF4-FFF2-40B4-BE49-F238E27FC236}">
                <a16:creationId xmlns:a16="http://schemas.microsoft.com/office/drawing/2014/main" id="{1822CCDF-9FBA-4186-A4CB-C4E754361273}"/>
              </a:ext>
            </a:extLst>
          </p:cNvPr>
          <p:cNvSpPr>
            <a:spLocks xmlns:a="http://schemas.openxmlformats.org/drawingml/2006/main" noGrp="1"/>
          </p:cNvSpPr>
          <p:nvPr/>
        </p:nvSpPr>
        <p:spPr>
          <a:xfrm xmlns:a="http://schemas.openxmlformats.org/drawingml/2006/main">
            <a:off x="11239500" y="64198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2677D"/>
                </a:solidFill>
              </a:defRPr>
            </a:pPr>
            <a:r>
              <a:rPr sz="900" b="1">
                <a:solidFill>
                  <a:srgbClr val="52677D"/>
                </a:solidFill>
              </a:rPr>
              <a:t>7</a:t>
            </a:r>
          </a:p>
        </p:txBody>
      </p:sp>
      <p:sp>
        <p:nvSpPr>
          <p:cNvPr id="28" name="">
            <a:extLst xmlns:a="http://schemas.openxmlformats.org/drawingml/2006/main">
              <a:ext uri="{FF2B5EF4-FFF2-40B4-BE49-F238E27FC236}">
                <a16:creationId xmlns:a16="http://schemas.microsoft.com/office/drawing/2014/main" id="{4710E689-DFCB-4DE3-8D07-81ECC22B4C43}"/>
              </a:ext>
            </a:extLst>
          </p:cNvPr>
          <p:cNvSpPr>
            <a:spLocks xmlns:a="http://schemas.openxmlformats.org/drawingml/2006/main" noGrp="1"/>
          </p:cNvSpPr>
          <p:nvPr/>
        </p:nvSpPr>
        <p:spPr>
          <a:xfrm xmlns:a="http://schemas.openxmlformats.org/drawingml/2006/main">
            <a:off x="10115550" y="438150"/>
            <a:ext cx="10096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002256e3e27245fe"/>
          <a:stretch xmlns:a="http://schemas.openxmlformats.org/drawingml/2006/main"/>
        </p:blipFill>
        <p:spPr>
          <a:xfrm xmlns:a="http://schemas.openxmlformats.org/drawingml/2006/main">
            <a:off x="10286061" y="476250"/>
            <a:ext cx="668627" cy="60960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A76CE3DA-444B-4332-9B48-6F7977C4C293}"/>
              </a:ext>
            </a:extLst>
          </p:cNvPr>
          <p:cNvSpPr>
            <a:spLocks xmlns:a="http://schemas.openxmlformats.org/drawingml/2006/main" noGrp="1"/>
          </p:cNvSpPr>
          <p:nvPr/>
        </p:nvSpPr>
        <p:spPr>
          <a:xfrm xmlns:a="http://schemas.openxmlformats.org/drawingml/2006/main">
            <a:off x="8763000" y="514350"/>
            <a:ext cx="1219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1769AA"/>
                </a:solidFill>
              </a:defRPr>
            </a:pPr>
            <a:r>
              <a:rPr sz="825" b="1">
                <a:solidFill>
                  <a:srgbClr val="1769AA"/>
                </a:solidFill>
              </a:rPr>
              <a:t>EAUT · AI ADMISSIONS</a:t>
            </a:r>
          </a:p>
        </p:txBody>
      </p:sp>
    </p:spTree>
    <p:extLst>
      <p:ext uri="{BB962C8B-B14F-4D97-AF65-F5344CB8AC3E}">
        <p14:creationId xmlns:p14="http://schemas.microsoft.com/office/powerpoint/2010/main" val="99650391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7D2EFF8-A6DC-4A29-BAD8-99EF8579AA4E}"/>
              </a:ext>
            </a:extLst>
          </p:cNvPr>
          <p:cNvSpPr>
            <a:spLocks xmlns:a="http://schemas.openxmlformats.org/drawingml/2006/main" noGrp="1"/>
          </p:cNvSpPr>
          <p:nvPr/>
        </p:nvSpPr>
        <p:spPr>
          <a:xfrm xmlns:a="http://schemas.openxmlformats.org/drawingml/2006/main">
            <a:off x="6096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1769AA"/>
                </a:solidFill>
              </a:defRPr>
            </a:pPr>
            <a:r>
              <a:rPr sz="1050" b="1">
                <a:solidFill>
                  <a:srgbClr val="1769AA"/>
                </a:solidFill>
              </a:rPr>
              <a:t>DỰ ÁN HỌC PHẦN · TRÍ TUỆ NHÂN TẠO</a:t>
            </a:r>
          </a:p>
        </p:txBody>
      </p:sp>
      <p:sp>
        <p:nvSpPr>
          <p:cNvPr id="2" name="">
            <a:extLst xmlns:a="http://schemas.openxmlformats.org/drawingml/2006/main">
              <a:ext uri="{FF2B5EF4-FFF2-40B4-BE49-F238E27FC236}">
                <a16:creationId xmlns:a16="http://schemas.microsoft.com/office/drawing/2014/main" id="{0F9B3742-1CA9-4605-ABA5-50E9DB938C9A}"/>
              </a:ext>
            </a:extLst>
          </p:cNvPr>
          <p:cNvSpPr>
            <a:spLocks xmlns:a="http://schemas.openxmlformats.org/drawingml/2006/main" noGrp="1"/>
          </p:cNvSpPr>
          <p:nvPr/>
        </p:nvSpPr>
        <p:spPr>
          <a:xfrm xmlns:a="http://schemas.openxmlformats.org/drawingml/2006/main">
            <a:off x="609600" y="68580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02A43"/>
                </a:solidFill>
              </a:defRPr>
            </a:pPr>
            <a:r>
              <a:rPr sz="2700" b="1">
                <a:solidFill>
                  <a:srgbClr val="102A43"/>
                </a:solidFill>
              </a:rPr>
              <a:t>Lộ trình mở rộng nền tảng tuyển sinh thông minh</a:t>
            </a:r>
          </a:p>
        </p:txBody>
      </p:sp>
      <p:sp>
        <p:nvSpPr>
          <p:cNvPr id="3" name="">
            <a:extLst xmlns:a="http://schemas.openxmlformats.org/drawingml/2006/main">
              <a:ext uri="{FF2B5EF4-FFF2-40B4-BE49-F238E27FC236}">
                <a16:creationId xmlns:a16="http://schemas.microsoft.com/office/drawing/2014/main" id="{DA18BA20-1E7E-4AEA-9951-74B0FA24B9CA}"/>
              </a:ext>
            </a:extLst>
          </p:cNvPr>
          <p:cNvSpPr>
            <a:spLocks xmlns:a="http://schemas.openxmlformats.org/drawingml/2006/main" noGrp="1"/>
          </p:cNvSpPr>
          <p:nvPr/>
        </p:nvSpPr>
        <p:spPr>
          <a:xfrm xmlns:a="http://schemas.openxmlformats.org/drawingml/2006/main">
            <a:off x="10953750" y="36195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125" b="1">
                <a:solidFill>
                  <a:srgbClr val="52677D"/>
                </a:solidFill>
              </a:defRPr>
            </a:pPr>
            <a:r>
              <a:rPr sz="1125" b="1">
                <a:solidFill>
                  <a:srgbClr val="52677D"/>
                </a:solidFill>
              </a:rPr>
              <a:t>08</a:t>
            </a:r>
          </a:p>
        </p:txBody>
      </p:sp>
      <p:sp>
        <p:nvSpPr>
          <p:cNvPr id="4" name="">
            <a:extLst xmlns:a="http://schemas.openxmlformats.org/drawingml/2006/main">
              <a:ext uri="{FF2B5EF4-FFF2-40B4-BE49-F238E27FC236}">
                <a16:creationId xmlns:a16="http://schemas.microsoft.com/office/drawing/2014/main" id="{C9A9C281-C1F3-46B1-9152-97A282642FBA}"/>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CED9E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C8F16BF-B7E7-468B-AF80-9E626C45B7E7}"/>
              </a:ext>
            </a:extLst>
          </p:cNvPr>
          <p:cNvSpPr>
            <a:spLocks xmlns:a="http://schemas.openxmlformats.org/drawingml/2006/main" noGrp="1"/>
          </p:cNvSpPr>
          <p:nvPr/>
        </p:nvSpPr>
        <p:spPr>
          <a:xfrm xmlns:a="http://schemas.openxmlformats.org/drawingml/2006/main">
            <a:off x="609600" y="2095500"/>
            <a:ext cx="2247900" cy="2667000"/>
          </a:xfrm>
          <a:prstGeom xmlns:a="http://schemas.openxmlformats.org/drawingml/2006/main" prst="roundRect">
            <a:avLst>
              <a:gd name="adj" fmla="val 3390"/>
            </a:avLst>
          </a:prstGeom>
          <a:solidFill xmlns:a="http://schemas.openxmlformats.org/drawingml/2006/main">
            <a:srgbClr val="F3F7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DE5864D-30E2-4B5F-BA85-2C2C1852D7DB}"/>
              </a:ext>
            </a:extLst>
          </p:cNvPr>
          <p:cNvSpPr>
            <a:spLocks xmlns:a="http://schemas.openxmlformats.org/drawingml/2006/main" noGrp="1"/>
          </p:cNvSpPr>
          <p:nvPr/>
        </p:nvSpPr>
        <p:spPr>
          <a:xfrm xmlns:a="http://schemas.openxmlformats.org/drawingml/2006/main">
            <a:off x="609600" y="2095500"/>
            <a:ext cx="2247900" cy="114300"/>
          </a:xfrm>
          <a:prstGeom xmlns:a="http://schemas.openxmlformats.org/drawingml/2006/main" prst="roundRect">
            <a:avLst>
              <a:gd name="adj" fmla="val 50000"/>
            </a:avLst>
          </a:prstGeom>
          <a:solidFill xmlns:a="http://schemas.openxmlformats.org/drawingml/2006/main">
            <a:srgbClr val="62B6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6DFAE3F-720B-4F1C-96F4-9CD93648849A}"/>
              </a:ext>
            </a:extLst>
          </p:cNvPr>
          <p:cNvSpPr>
            <a:spLocks xmlns:a="http://schemas.openxmlformats.org/drawingml/2006/main" noGrp="1"/>
          </p:cNvSpPr>
          <p:nvPr/>
        </p:nvSpPr>
        <p:spPr>
          <a:xfrm xmlns:a="http://schemas.openxmlformats.org/drawingml/2006/main">
            <a:off x="800100" y="2419350"/>
            <a:ext cx="1857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62B6E8"/>
                </a:solidFill>
              </a:defRPr>
            </a:pPr>
            <a:r>
              <a:rPr sz="1200" b="1">
                <a:solidFill>
                  <a:srgbClr val="62B6E8"/>
                </a:solidFill>
              </a:rPr>
              <a:t>Giai đoạn 1</a:t>
            </a:r>
          </a:p>
        </p:txBody>
      </p:sp>
      <p:sp>
        <p:nvSpPr>
          <p:cNvPr id="8" name="">
            <a:extLst xmlns:a="http://schemas.openxmlformats.org/drawingml/2006/main">
              <a:ext uri="{FF2B5EF4-FFF2-40B4-BE49-F238E27FC236}">
                <a16:creationId xmlns:a16="http://schemas.microsoft.com/office/drawing/2014/main" id="{1E8FDEE6-4324-4AC5-87D2-28B634B54DE3}"/>
              </a:ext>
            </a:extLst>
          </p:cNvPr>
          <p:cNvSpPr>
            <a:spLocks xmlns:a="http://schemas.openxmlformats.org/drawingml/2006/main" noGrp="1"/>
          </p:cNvSpPr>
          <p:nvPr/>
        </p:nvSpPr>
        <p:spPr>
          <a:xfrm xmlns:a="http://schemas.openxmlformats.org/drawingml/2006/main">
            <a:off x="800100" y="2857500"/>
            <a:ext cx="1857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102A43"/>
                </a:solidFill>
              </a:defRPr>
            </a:pPr>
            <a:r>
              <a:rPr sz="1800" b="1">
                <a:solidFill>
                  <a:srgbClr val="102A43"/>
                </a:solidFill>
              </a:rPr>
              <a:t>MVP tri thức</a:t>
            </a:r>
          </a:p>
        </p:txBody>
      </p:sp>
      <p:sp>
        <p:nvSpPr>
          <p:cNvPr id="9" name="">
            <a:extLst xmlns:a="http://schemas.openxmlformats.org/drawingml/2006/main">
              <a:ext uri="{FF2B5EF4-FFF2-40B4-BE49-F238E27FC236}">
                <a16:creationId xmlns:a16="http://schemas.microsoft.com/office/drawing/2014/main" id="{A257D0D0-5730-48AF-BD90-356040DD6DFC}"/>
              </a:ext>
            </a:extLst>
          </p:cNvPr>
          <p:cNvSpPr>
            <a:spLocks xmlns:a="http://schemas.openxmlformats.org/drawingml/2006/main" noGrp="1"/>
          </p:cNvSpPr>
          <p:nvPr/>
        </p:nvSpPr>
        <p:spPr>
          <a:xfrm xmlns:a="http://schemas.openxmlformats.org/drawingml/2006/main">
            <a:off x="800100" y="3581400"/>
            <a:ext cx="1857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2677D"/>
                </a:solidFill>
              </a:defRPr>
            </a:pPr>
            <a:r>
              <a:rPr sz="1425" b="0">
                <a:solidFill>
                  <a:srgbClr val="52677D"/>
                </a:solidFill>
              </a:rPr>
              <a:t>FAQ + web chat</a:t>
            </a:r>
          </a:p>
          <a:p xmlns:a="http://schemas.openxmlformats.org/drawingml/2006/main">
            <a:pPr algn="l">
              <a:buNone/>
              <a:defRPr sz="1425" b="0">
                <a:solidFill>
                  <a:srgbClr val="52677D"/>
                </a:solidFill>
              </a:defRPr>
            </a:pPr>
            <a:r>
              <a:rPr sz="1425" b="0">
                <a:solidFill>
                  <a:srgbClr val="52677D"/>
                </a:solidFill>
              </a:rPr>
              <a:t>Kiểm thử câu hỏi phổ biến</a:t>
            </a:r>
          </a:p>
        </p:txBody>
      </p:sp>
      <p:sp>
        <p:nvSpPr>
          <p:cNvPr id="10" name="">
            <a:extLst xmlns:a="http://schemas.openxmlformats.org/drawingml/2006/main">
              <a:ext uri="{FF2B5EF4-FFF2-40B4-BE49-F238E27FC236}">
                <a16:creationId xmlns:a16="http://schemas.microsoft.com/office/drawing/2014/main" id="{B65ED5B0-C106-4F85-9E5C-8313FE58DCBE}"/>
              </a:ext>
            </a:extLst>
          </p:cNvPr>
          <p:cNvSpPr>
            <a:spLocks xmlns:a="http://schemas.openxmlformats.org/drawingml/2006/main" noGrp="1"/>
          </p:cNvSpPr>
          <p:nvPr/>
        </p:nvSpPr>
        <p:spPr>
          <a:xfrm xmlns:a="http://schemas.openxmlformats.org/drawingml/2006/main">
            <a:off x="3324225" y="2095500"/>
            <a:ext cx="2247900" cy="2667000"/>
          </a:xfrm>
          <a:prstGeom xmlns:a="http://schemas.openxmlformats.org/drawingml/2006/main" prst="roundRect">
            <a:avLst>
              <a:gd name="adj" fmla="val 3390"/>
            </a:avLst>
          </a:prstGeom>
          <a:solidFill xmlns:a="http://schemas.openxmlformats.org/drawingml/2006/main">
            <a:srgbClr val="F3F7F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C12B1CF-2042-4855-8E90-782131169056}"/>
              </a:ext>
            </a:extLst>
          </p:cNvPr>
          <p:cNvSpPr>
            <a:spLocks xmlns:a="http://schemas.openxmlformats.org/drawingml/2006/main" noGrp="1"/>
          </p:cNvSpPr>
          <p:nvPr/>
        </p:nvSpPr>
        <p:spPr>
          <a:xfrm xmlns:a="http://schemas.openxmlformats.org/drawingml/2006/main">
            <a:off x="3324225" y="2095500"/>
            <a:ext cx="2247900" cy="114300"/>
          </a:xfrm>
          <a:prstGeom xmlns:a="http://schemas.openxmlformats.org/drawingml/2006/main" prst="roundRect">
            <a:avLst>
              <a:gd name="adj" fmla="val 50000"/>
            </a:avLst>
          </a:prstGeom>
          <a:solidFill xmlns:a="http://schemas.openxmlformats.org/drawingml/2006/main">
            <a:srgbClr val="F5B94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046F0C7-99F3-4D58-901C-48180C4921EC}"/>
              </a:ext>
            </a:extLst>
          </p:cNvPr>
          <p:cNvSpPr>
            <a:spLocks xmlns:a="http://schemas.openxmlformats.org/drawingml/2006/main" noGrp="1"/>
          </p:cNvSpPr>
          <p:nvPr/>
        </p:nvSpPr>
        <p:spPr>
          <a:xfrm xmlns:a="http://schemas.openxmlformats.org/drawingml/2006/main">
            <a:off x="3514725" y="2419350"/>
            <a:ext cx="1857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F5B942"/>
                </a:solidFill>
              </a:defRPr>
            </a:pPr>
            <a:r>
              <a:rPr sz="1200" b="1">
                <a:solidFill>
                  <a:srgbClr val="F5B942"/>
                </a:solidFill>
              </a:rPr>
              <a:t>Giai đoạn 2</a:t>
            </a:r>
          </a:p>
        </p:txBody>
      </p:sp>
      <p:sp>
        <p:nvSpPr>
          <p:cNvPr id="13" name="">
            <a:extLst xmlns:a="http://schemas.openxmlformats.org/drawingml/2006/main">
              <a:ext uri="{FF2B5EF4-FFF2-40B4-BE49-F238E27FC236}">
                <a16:creationId xmlns:a16="http://schemas.microsoft.com/office/drawing/2014/main" id="{9336151D-30B3-4469-BC8E-DE0412C4F0E2}"/>
              </a:ext>
            </a:extLst>
          </p:cNvPr>
          <p:cNvSpPr>
            <a:spLocks xmlns:a="http://schemas.openxmlformats.org/drawingml/2006/main" noGrp="1"/>
          </p:cNvSpPr>
          <p:nvPr/>
        </p:nvSpPr>
        <p:spPr>
          <a:xfrm xmlns:a="http://schemas.openxmlformats.org/drawingml/2006/main">
            <a:off x="3514725" y="2857500"/>
            <a:ext cx="1857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102A43"/>
                </a:solidFill>
              </a:defRPr>
            </a:pPr>
            <a:r>
              <a:rPr sz="1800" b="1">
                <a:solidFill>
                  <a:srgbClr val="102A43"/>
                </a:solidFill>
              </a:rPr>
              <a:t>Nâng độ chính xác</a:t>
            </a:r>
          </a:p>
        </p:txBody>
      </p:sp>
      <p:sp>
        <p:nvSpPr>
          <p:cNvPr id="14" name="">
            <a:extLst xmlns:a="http://schemas.openxmlformats.org/drawingml/2006/main">
              <a:ext uri="{FF2B5EF4-FFF2-40B4-BE49-F238E27FC236}">
                <a16:creationId xmlns:a16="http://schemas.microsoft.com/office/drawing/2014/main" id="{B617A4E7-7F1A-4406-9DE3-5763CB4B536D}"/>
              </a:ext>
            </a:extLst>
          </p:cNvPr>
          <p:cNvSpPr>
            <a:spLocks xmlns:a="http://schemas.openxmlformats.org/drawingml/2006/main" noGrp="1"/>
          </p:cNvSpPr>
          <p:nvPr/>
        </p:nvSpPr>
        <p:spPr>
          <a:xfrm xmlns:a="http://schemas.openxmlformats.org/drawingml/2006/main">
            <a:off x="3514725" y="3581400"/>
            <a:ext cx="1857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2677D"/>
                </a:solidFill>
              </a:defRPr>
            </a:pPr>
            <a:r>
              <a:rPr sz="1425" b="0">
                <a:solidFill>
                  <a:srgbClr val="52677D"/>
                </a:solidFill>
              </a:rPr>
              <a:t>RAG, đánh giá câu trả lời</a:t>
            </a:r>
          </a:p>
          <a:p xmlns:a="http://schemas.openxmlformats.org/drawingml/2006/main">
            <a:pPr algn="l">
              <a:buNone/>
              <a:defRPr sz="1425" b="0">
                <a:solidFill>
                  <a:srgbClr val="52677D"/>
                </a:solidFill>
              </a:defRPr>
            </a:pPr>
            <a:r>
              <a:rPr sz="1425" b="0">
                <a:solidFill>
                  <a:srgbClr val="52677D"/>
                </a:solidFill>
              </a:rPr>
              <a:t>Quy trình cập nhật dữ liệu</a:t>
            </a:r>
          </a:p>
        </p:txBody>
      </p:sp>
      <p:sp>
        <p:nvSpPr>
          <p:cNvPr id="15" name="">
            <a:extLst xmlns:a="http://schemas.openxmlformats.org/drawingml/2006/main">
              <a:ext uri="{FF2B5EF4-FFF2-40B4-BE49-F238E27FC236}">
                <a16:creationId xmlns:a16="http://schemas.microsoft.com/office/drawing/2014/main" id="{4A48A6F8-CB18-4F16-9CE1-4AA2E0DF9A7F}"/>
              </a:ext>
            </a:extLst>
          </p:cNvPr>
          <p:cNvSpPr>
            <a:spLocks xmlns:a="http://schemas.openxmlformats.org/drawingml/2006/main" noGrp="1"/>
          </p:cNvSpPr>
          <p:nvPr/>
        </p:nvSpPr>
        <p:spPr>
          <a:xfrm xmlns:a="http://schemas.openxmlformats.org/drawingml/2006/main">
            <a:off x="6038850" y="2095500"/>
            <a:ext cx="2247900" cy="2667000"/>
          </a:xfrm>
          <a:prstGeom xmlns:a="http://schemas.openxmlformats.org/drawingml/2006/main" prst="roundRect">
            <a:avLst>
              <a:gd name="adj" fmla="val 3390"/>
            </a:avLst>
          </a:prstGeom>
          <a:solidFill xmlns:a="http://schemas.openxmlformats.org/drawingml/2006/main">
            <a:srgbClr val="F3F7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2908697-1F8F-4CBA-875C-5A53FA52EEE0}"/>
              </a:ext>
            </a:extLst>
          </p:cNvPr>
          <p:cNvSpPr>
            <a:spLocks xmlns:a="http://schemas.openxmlformats.org/drawingml/2006/main" noGrp="1"/>
          </p:cNvSpPr>
          <p:nvPr/>
        </p:nvSpPr>
        <p:spPr>
          <a:xfrm xmlns:a="http://schemas.openxmlformats.org/drawingml/2006/main">
            <a:off x="6038850" y="2095500"/>
            <a:ext cx="2247900" cy="114300"/>
          </a:xfrm>
          <a:prstGeom xmlns:a="http://schemas.openxmlformats.org/drawingml/2006/main" prst="roundRect">
            <a:avLst>
              <a:gd name="adj" fmla="val 50000"/>
            </a:avLst>
          </a:prstGeom>
          <a:solidFill xmlns:a="http://schemas.openxmlformats.org/drawingml/2006/main">
            <a:srgbClr val="46A37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0B4F897-80AC-4195-B99B-43D564BC5B81}"/>
              </a:ext>
            </a:extLst>
          </p:cNvPr>
          <p:cNvSpPr>
            <a:spLocks xmlns:a="http://schemas.openxmlformats.org/drawingml/2006/main" noGrp="1"/>
          </p:cNvSpPr>
          <p:nvPr/>
        </p:nvSpPr>
        <p:spPr>
          <a:xfrm xmlns:a="http://schemas.openxmlformats.org/drawingml/2006/main">
            <a:off x="6229350" y="2419350"/>
            <a:ext cx="1857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46A37D"/>
                </a:solidFill>
              </a:defRPr>
            </a:pPr>
            <a:r>
              <a:rPr sz="1200" b="1">
                <a:solidFill>
                  <a:srgbClr val="46A37D"/>
                </a:solidFill>
              </a:rPr>
              <a:t>Giai đoạn 3</a:t>
            </a:r>
          </a:p>
        </p:txBody>
      </p:sp>
      <p:sp>
        <p:nvSpPr>
          <p:cNvPr id="18" name="">
            <a:extLst xmlns:a="http://schemas.openxmlformats.org/drawingml/2006/main">
              <a:ext uri="{FF2B5EF4-FFF2-40B4-BE49-F238E27FC236}">
                <a16:creationId xmlns:a16="http://schemas.microsoft.com/office/drawing/2014/main" id="{17AAA559-A614-41EF-8486-27650C5C21D9}"/>
              </a:ext>
            </a:extLst>
          </p:cNvPr>
          <p:cNvSpPr>
            <a:spLocks xmlns:a="http://schemas.openxmlformats.org/drawingml/2006/main" noGrp="1"/>
          </p:cNvSpPr>
          <p:nvPr/>
        </p:nvSpPr>
        <p:spPr>
          <a:xfrm xmlns:a="http://schemas.openxmlformats.org/drawingml/2006/main">
            <a:off x="6229350" y="2857500"/>
            <a:ext cx="1857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102A43"/>
                </a:solidFill>
              </a:defRPr>
            </a:pPr>
            <a:r>
              <a:rPr sz="1800" b="1">
                <a:solidFill>
                  <a:srgbClr val="102A43"/>
                </a:solidFill>
              </a:rPr>
              <a:t>Cá nhân hoá</a:t>
            </a:r>
          </a:p>
        </p:txBody>
      </p:sp>
      <p:sp>
        <p:nvSpPr>
          <p:cNvPr id="19" name="">
            <a:extLst xmlns:a="http://schemas.openxmlformats.org/drawingml/2006/main">
              <a:ext uri="{FF2B5EF4-FFF2-40B4-BE49-F238E27FC236}">
                <a16:creationId xmlns:a16="http://schemas.microsoft.com/office/drawing/2014/main" id="{454A5EB1-32A9-4171-B9A5-6EF4DDFD2E51}"/>
              </a:ext>
            </a:extLst>
          </p:cNvPr>
          <p:cNvSpPr>
            <a:spLocks xmlns:a="http://schemas.openxmlformats.org/drawingml/2006/main" noGrp="1"/>
          </p:cNvSpPr>
          <p:nvPr/>
        </p:nvSpPr>
        <p:spPr>
          <a:xfrm xmlns:a="http://schemas.openxmlformats.org/drawingml/2006/main">
            <a:off x="6229350" y="3581400"/>
            <a:ext cx="1857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2677D"/>
                </a:solidFill>
              </a:defRPr>
            </a:pPr>
            <a:r>
              <a:rPr sz="1425" b="0">
                <a:solidFill>
                  <a:srgbClr val="52677D"/>
                </a:solidFill>
              </a:rPr>
              <a:t>Đề xuất ngành phù hợp</a:t>
            </a:r>
          </a:p>
          <a:p xmlns:a="http://schemas.openxmlformats.org/drawingml/2006/main">
            <a:pPr algn="l">
              <a:buNone/>
              <a:defRPr sz="1425" b="0">
                <a:solidFill>
                  <a:srgbClr val="52677D"/>
                </a:solidFill>
              </a:defRPr>
            </a:pPr>
            <a:r>
              <a:rPr sz="1425" b="0">
                <a:solidFill>
                  <a:srgbClr val="52677D"/>
                </a:solidFill>
              </a:rPr>
              <a:t>Hội thoại đa kênh</a:t>
            </a:r>
          </a:p>
        </p:txBody>
      </p:sp>
      <p:sp>
        <p:nvSpPr>
          <p:cNvPr id="20" name="">
            <a:extLst xmlns:a="http://schemas.openxmlformats.org/drawingml/2006/main">
              <a:ext uri="{FF2B5EF4-FFF2-40B4-BE49-F238E27FC236}">
                <a16:creationId xmlns:a16="http://schemas.microsoft.com/office/drawing/2014/main" id="{C9AE486B-4287-40B8-84CA-C87E75D46CEC}"/>
              </a:ext>
            </a:extLst>
          </p:cNvPr>
          <p:cNvSpPr>
            <a:spLocks xmlns:a="http://schemas.openxmlformats.org/drawingml/2006/main" noGrp="1"/>
          </p:cNvSpPr>
          <p:nvPr/>
        </p:nvSpPr>
        <p:spPr>
          <a:xfrm xmlns:a="http://schemas.openxmlformats.org/drawingml/2006/main">
            <a:off x="8753475" y="2095500"/>
            <a:ext cx="2247900" cy="2667000"/>
          </a:xfrm>
          <a:prstGeom xmlns:a="http://schemas.openxmlformats.org/drawingml/2006/main" prst="roundRect">
            <a:avLst>
              <a:gd name="adj" fmla="val 3390"/>
            </a:avLst>
          </a:prstGeom>
          <a:solidFill xmlns:a="http://schemas.openxmlformats.org/drawingml/2006/main">
            <a:srgbClr val="F3F7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1F00DD8-CCFA-48A3-8ACE-88F85529EDDA}"/>
              </a:ext>
            </a:extLst>
          </p:cNvPr>
          <p:cNvSpPr>
            <a:spLocks xmlns:a="http://schemas.openxmlformats.org/drawingml/2006/main" noGrp="1"/>
          </p:cNvSpPr>
          <p:nvPr/>
        </p:nvSpPr>
        <p:spPr>
          <a:xfrm xmlns:a="http://schemas.openxmlformats.org/drawingml/2006/main">
            <a:off x="8753475" y="2095500"/>
            <a:ext cx="2247900" cy="114300"/>
          </a:xfrm>
          <a:prstGeom xmlns:a="http://schemas.openxmlformats.org/drawingml/2006/main" prst="roundRect">
            <a:avLst>
              <a:gd name="adj" fmla="val 50000"/>
            </a:avLst>
          </a:prstGeom>
          <a:solidFill xmlns:a="http://schemas.openxmlformats.org/drawingml/2006/main">
            <a:srgbClr val="1769A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A1FC00E-9660-4CC1-B981-58E9AE4DB75C}"/>
              </a:ext>
            </a:extLst>
          </p:cNvPr>
          <p:cNvSpPr>
            <a:spLocks xmlns:a="http://schemas.openxmlformats.org/drawingml/2006/main" noGrp="1"/>
          </p:cNvSpPr>
          <p:nvPr/>
        </p:nvSpPr>
        <p:spPr>
          <a:xfrm xmlns:a="http://schemas.openxmlformats.org/drawingml/2006/main">
            <a:off x="8943975" y="2419350"/>
            <a:ext cx="1857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1769AA"/>
                </a:solidFill>
              </a:defRPr>
            </a:pPr>
            <a:r>
              <a:rPr sz="1200" b="1">
                <a:solidFill>
                  <a:srgbClr val="1769AA"/>
                </a:solidFill>
              </a:rPr>
              <a:t>Giai đoạn 4</a:t>
            </a:r>
          </a:p>
        </p:txBody>
      </p:sp>
      <p:sp>
        <p:nvSpPr>
          <p:cNvPr id="23" name="">
            <a:extLst xmlns:a="http://schemas.openxmlformats.org/drawingml/2006/main">
              <a:ext uri="{FF2B5EF4-FFF2-40B4-BE49-F238E27FC236}">
                <a16:creationId xmlns:a16="http://schemas.microsoft.com/office/drawing/2014/main" id="{5AB13046-1571-4B2C-8B0A-0180E37AE6D0}"/>
              </a:ext>
            </a:extLst>
          </p:cNvPr>
          <p:cNvSpPr>
            <a:spLocks xmlns:a="http://schemas.openxmlformats.org/drawingml/2006/main" noGrp="1"/>
          </p:cNvSpPr>
          <p:nvPr/>
        </p:nvSpPr>
        <p:spPr>
          <a:xfrm xmlns:a="http://schemas.openxmlformats.org/drawingml/2006/main">
            <a:off x="8943975" y="2857500"/>
            <a:ext cx="1857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102A43"/>
                </a:solidFill>
              </a:defRPr>
            </a:pPr>
            <a:r>
              <a:rPr sz="1800" b="1">
                <a:solidFill>
                  <a:srgbClr val="102A43"/>
                </a:solidFill>
              </a:rPr>
              <a:t>Vận hành thông minh</a:t>
            </a:r>
          </a:p>
        </p:txBody>
      </p:sp>
      <p:sp>
        <p:nvSpPr>
          <p:cNvPr id="24" name="">
            <a:extLst xmlns:a="http://schemas.openxmlformats.org/drawingml/2006/main">
              <a:ext uri="{FF2B5EF4-FFF2-40B4-BE49-F238E27FC236}">
                <a16:creationId xmlns:a16="http://schemas.microsoft.com/office/drawing/2014/main" id="{90A578FF-7272-4C73-8F93-2B603CB1DBBD}"/>
              </a:ext>
            </a:extLst>
          </p:cNvPr>
          <p:cNvSpPr>
            <a:spLocks xmlns:a="http://schemas.openxmlformats.org/drawingml/2006/main" noGrp="1"/>
          </p:cNvSpPr>
          <p:nvPr/>
        </p:nvSpPr>
        <p:spPr>
          <a:xfrm xmlns:a="http://schemas.openxmlformats.org/drawingml/2006/main">
            <a:off x="8943975" y="3581400"/>
            <a:ext cx="1857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2677D"/>
                </a:solidFill>
              </a:defRPr>
            </a:pPr>
            <a:r>
              <a:rPr sz="1425" b="0">
                <a:solidFill>
                  <a:srgbClr val="52677D"/>
                </a:solidFill>
              </a:rPr>
              <a:t>Dashboard, phân tích nhu cầu</a:t>
            </a:r>
          </a:p>
          <a:p xmlns:a="http://schemas.openxmlformats.org/drawingml/2006/main">
            <a:pPr algn="l">
              <a:buNone/>
              <a:defRPr sz="1425" b="0">
                <a:solidFill>
                  <a:srgbClr val="52677D"/>
                </a:solidFill>
              </a:defRPr>
            </a:pPr>
            <a:r>
              <a:rPr sz="1425" b="0">
                <a:solidFill>
                  <a:srgbClr val="52677D"/>
                </a:solidFill>
              </a:rPr>
              <a:t>Kết nối CRM tuyển sinh</a:t>
            </a:r>
          </a:p>
        </p:txBody>
      </p:sp>
      <p:sp>
        <p:nvSpPr>
          <p:cNvPr id="25" name="">
            <a:extLst xmlns:a="http://schemas.openxmlformats.org/drawingml/2006/main">
              <a:ext uri="{FF2B5EF4-FFF2-40B4-BE49-F238E27FC236}">
                <a16:creationId xmlns:a16="http://schemas.microsoft.com/office/drawing/2014/main" id="{A06BB49E-299A-4D99-8BC5-359331B535A6}"/>
              </a:ext>
            </a:extLst>
          </p:cNvPr>
          <p:cNvSpPr>
            <a:spLocks xmlns:a="http://schemas.openxmlformats.org/drawingml/2006/main" noGrp="1"/>
          </p:cNvSpPr>
          <p:nvPr/>
        </p:nvSpPr>
        <p:spPr>
          <a:xfrm xmlns:a="http://schemas.openxmlformats.org/drawingml/2006/main">
            <a:off x="609600" y="54292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102A43"/>
                </a:solidFill>
              </a:defRPr>
            </a:pPr>
            <a:r>
              <a:rPr sz="1575" b="1">
                <a:solidFill>
                  <a:srgbClr val="102A43"/>
                </a:solidFill>
              </a:rPr>
              <a:t>Định hướng dài hạn: kết hợp tự động hoá với sự giám sát của con người để giữ độ chính xác và tính nhân văn.</a:t>
            </a:r>
          </a:p>
        </p:txBody>
      </p:sp>
      <p:sp>
        <p:nvSpPr>
          <p:cNvPr id="26" name="">
            <a:extLst xmlns:a="http://schemas.openxmlformats.org/drawingml/2006/main">
              <a:ext uri="{FF2B5EF4-FFF2-40B4-BE49-F238E27FC236}">
                <a16:creationId xmlns:a16="http://schemas.microsoft.com/office/drawing/2014/main" id="{85AF9683-FC23-4456-ACB3-044D49059AF8}"/>
              </a:ext>
            </a:extLst>
          </p:cNvPr>
          <p:cNvSpPr>
            <a:spLocks xmlns:a="http://schemas.openxmlformats.org/drawingml/2006/main" noGrp="1"/>
          </p:cNvSpPr>
          <p:nvPr/>
        </p:nvSpPr>
        <p:spPr>
          <a:xfrm xmlns:a="http://schemas.openxmlformats.org/drawingml/2006/main">
            <a:off x="60960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0">
                <a:solidFill>
                  <a:srgbClr val="52677D"/>
                </a:solidFill>
              </a:defRPr>
            </a:pPr>
            <a:r>
              <a:rPr sz="900" b="0">
                <a:solidFill>
                  <a:srgbClr val="52677D"/>
                </a:solidFill>
              </a:rPr>
              <a:t>Đại học Công nghệ Đông Á · Hệ thống hỏi đáp tuyển sinh</a:t>
            </a:r>
          </a:p>
        </p:txBody>
      </p:sp>
      <p:sp>
        <p:nvSpPr>
          <p:cNvPr id="27" name="">
            <a:extLst xmlns:a="http://schemas.openxmlformats.org/drawingml/2006/main">
              <a:ext uri="{FF2B5EF4-FFF2-40B4-BE49-F238E27FC236}">
                <a16:creationId xmlns:a16="http://schemas.microsoft.com/office/drawing/2014/main" id="{1F074E68-C345-4C28-8369-69DB13D1DB6B}"/>
              </a:ext>
            </a:extLst>
          </p:cNvPr>
          <p:cNvSpPr>
            <a:spLocks xmlns:a="http://schemas.openxmlformats.org/drawingml/2006/main" noGrp="1"/>
          </p:cNvSpPr>
          <p:nvPr/>
        </p:nvSpPr>
        <p:spPr>
          <a:xfrm xmlns:a="http://schemas.openxmlformats.org/drawingml/2006/main">
            <a:off x="11239500" y="64198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2677D"/>
                </a:solidFill>
              </a:defRPr>
            </a:pPr>
            <a:r>
              <a:rPr sz="900" b="1">
                <a:solidFill>
                  <a:srgbClr val="52677D"/>
                </a:solidFill>
              </a:rPr>
              <a:t>8</a:t>
            </a:r>
          </a:p>
        </p:txBody>
      </p:sp>
      <p:sp>
        <p:nvSpPr>
          <p:cNvPr id="29" name="">
            <a:extLst xmlns:a="http://schemas.openxmlformats.org/drawingml/2006/main">
              <a:ext uri="{FF2B5EF4-FFF2-40B4-BE49-F238E27FC236}">
                <a16:creationId xmlns:a16="http://schemas.microsoft.com/office/drawing/2014/main" id="{7201CCC0-469E-458B-8869-C65CB765B197}"/>
              </a:ext>
            </a:extLst>
          </p:cNvPr>
          <p:cNvSpPr>
            <a:spLocks xmlns:a="http://schemas.openxmlformats.org/drawingml/2006/main" noGrp="1"/>
          </p:cNvSpPr>
          <p:nvPr/>
        </p:nvSpPr>
        <p:spPr>
          <a:xfrm xmlns:a="http://schemas.openxmlformats.org/drawingml/2006/main">
            <a:off x="10115550" y="438150"/>
            <a:ext cx="10096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85e8cafc4e9b4dc9"/>
          <a:stretch xmlns:a="http://schemas.openxmlformats.org/drawingml/2006/main"/>
        </p:blipFill>
        <p:spPr>
          <a:xfrm xmlns:a="http://schemas.openxmlformats.org/drawingml/2006/main">
            <a:off x="10286061" y="476250"/>
            <a:ext cx="668627" cy="60960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4C21F5D1-8C0F-41C8-9428-08C11A444548}"/>
              </a:ext>
            </a:extLst>
          </p:cNvPr>
          <p:cNvSpPr>
            <a:spLocks xmlns:a="http://schemas.openxmlformats.org/drawingml/2006/main" noGrp="1"/>
          </p:cNvSpPr>
          <p:nvPr/>
        </p:nvSpPr>
        <p:spPr>
          <a:xfrm xmlns:a="http://schemas.openxmlformats.org/drawingml/2006/main">
            <a:off x="8763000" y="514350"/>
            <a:ext cx="1219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1769AA"/>
                </a:solidFill>
              </a:defRPr>
            </a:pPr>
            <a:r>
              <a:rPr sz="825" b="1">
                <a:solidFill>
                  <a:srgbClr val="1769AA"/>
                </a:solidFill>
              </a:rPr>
              <a:t>EAUT · AI ADMISSIONS</a:t>
            </a:r>
          </a:p>
        </p:txBody>
      </p:sp>
    </p:spTree>
    <p:extLst>
      <p:ext uri="{BB962C8B-B14F-4D97-AF65-F5344CB8AC3E}">
        <p14:creationId xmlns:p14="http://schemas.microsoft.com/office/powerpoint/2010/main" val="541930941"/>
      </p:ext>
    </p:extLst>
  </p:cSld>
</p:sld>
</file>

<file path=ppt/slides/slide9.xml><?xml version="1.0" encoding="utf-8"?>
<p:sld xmlns:p="http://schemas.openxmlformats.org/presentationml/2006/main">
  <p:cSld>
    <p:bg>
      <p:bgPr>
        <a:solidFill xmlns:a="http://schemas.openxmlformats.org/drawingml/2006/main">
          <a:srgbClr val="0B355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D3B03A-DD0B-4FB3-ACCC-91DD8A156B39}"/>
              </a:ext>
            </a:extLst>
          </p:cNvPr>
          <p:cNvSpPr>
            <a:spLocks xmlns:a="http://schemas.openxmlformats.org/drawingml/2006/main" noGrp="1"/>
          </p:cNvSpPr>
          <p:nvPr/>
        </p:nvSpPr>
        <p:spPr>
          <a:xfrm xmlns:a="http://schemas.openxmlformats.org/drawingml/2006/main">
            <a:off x="609600" y="5905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62B6E8"/>
                </a:solidFill>
              </a:defRPr>
            </a:pPr>
            <a:r>
              <a:rPr sz="1125" b="1">
                <a:solidFill>
                  <a:srgbClr val="62B6E8"/>
                </a:solidFill>
              </a:rPr>
              <a:t>KẾT LUẬN</a:t>
            </a:r>
          </a:p>
        </p:txBody>
      </p:sp>
      <p:sp>
        <p:nvSpPr>
          <p:cNvPr id="2" name="">
            <a:extLst xmlns:a="http://schemas.openxmlformats.org/drawingml/2006/main">
              <a:ext uri="{FF2B5EF4-FFF2-40B4-BE49-F238E27FC236}">
                <a16:creationId xmlns:a16="http://schemas.microsoft.com/office/drawing/2014/main" id="{6DD45E89-B77E-4EE9-9C14-F112BBB9956D}"/>
              </a:ext>
            </a:extLst>
          </p:cNvPr>
          <p:cNvSpPr>
            <a:spLocks xmlns:a="http://schemas.openxmlformats.org/drawingml/2006/main" noGrp="1"/>
          </p:cNvSpPr>
          <p:nvPr/>
        </p:nvSpPr>
        <p:spPr>
          <a:xfrm xmlns:a="http://schemas.openxmlformats.org/drawingml/2006/main">
            <a:off x="609600" y="1219200"/>
            <a:ext cx="73342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750" b="1">
                <a:solidFill>
                  <a:srgbClr val="FFFFFF"/>
                </a:solidFill>
              </a:defRPr>
            </a:pPr>
            <a:r>
              <a:rPr sz="3750" b="1">
                <a:solidFill>
                  <a:srgbClr val="FFFFFF"/>
                </a:solidFill>
              </a:rPr>
              <a:t>Một trợ lý tuyển sinh tốt</a:t>
            </a:r>
          </a:p>
          <a:p xmlns:a="http://schemas.openxmlformats.org/drawingml/2006/main">
            <a:pPr algn="l">
              <a:buNone/>
              <a:defRPr sz="3750" b="1">
                <a:solidFill>
                  <a:srgbClr val="FFFFFF"/>
                </a:solidFill>
              </a:defRPr>
            </a:pPr>
            <a:r>
              <a:rPr sz="3750" b="1">
                <a:solidFill>
                  <a:srgbClr val="FFFFFF"/>
                </a:solidFill>
              </a:rPr>
              <a:t>không chỉ “trả lời” —</a:t>
            </a:r>
          </a:p>
          <a:p xmlns:a="http://schemas.openxmlformats.org/drawingml/2006/main">
            <a:pPr algn="l">
              <a:buNone/>
              <a:defRPr sz="3750" b="1">
                <a:solidFill>
                  <a:srgbClr val="FFFFFF"/>
                </a:solidFill>
              </a:defRPr>
            </a:pPr>
            <a:r>
              <a:rPr sz="3750" b="1">
                <a:solidFill>
                  <a:srgbClr val="FFFFFF"/>
                </a:solidFill>
              </a:rPr>
              <a:t>mà còn dẫn đường.</a:t>
            </a:r>
          </a:p>
        </p:txBody>
      </p:sp>
      <p:sp>
        <p:nvSpPr>
          <p:cNvPr id="3" name="">
            <a:extLst xmlns:a="http://schemas.openxmlformats.org/drawingml/2006/main">
              <a:ext uri="{FF2B5EF4-FFF2-40B4-BE49-F238E27FC236}">
                <a16:creationId xmlns:a16="http://schemas.microsoft.com/office/drawing/2014/main" id="{744B18D4-F635-48D2-BB5F-73A1EBC8AB16}"/>
              </a:ext>
            </a:extLst>
          </p:cNvPr>
          <p:cNvSpPr>
            <a:spLocks xmlns:a="http://schemas.openxmlformats.org/drawingml/2006/main" noGrp="1"/>
          </p:cNvSpPr>
          <p:nvPr/>
        </p:nvSpPr>
        <p:spPr>
          <a:xfrm xmlns:a="http://schemas.openxmlformats.org/drawingml/2006/main">
            <a:off x="647700" y="3524250"/>
            <a:ext cx="6572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a:solidFill>
                  <a:srgbClr val="D8E8F3"/>
                </a:solidFill>
              </a:defRPr>
            </a:pPr>
            <a:r>
              <a:rPr sz="1725" b="0">
                <a:solidFill>
                  <a:srgbClr val="D8E8F3"/>
                </a:solidFill>
              </a:rPr>
              <a:t>Dự án đề xuất cách kết hợp NLP, kho tri thức và quy trình kiểm soát để hỗ trợ thí sinh tiếp cận thông tin tuyển sinh rõ ràng, kịp thời và nhất quán.</a:t>
            </a:r>
          </a:p>
        </p:txBody>
      </p:sp>
      <p:sp>
        <p:nvSpPr>
          <p:cNvPr id="4" name="">
            <a:extLst xmlns:a="http://schemas.openxmlformats.org/drawingml/2006/main">
              <a:ext uri="{FF2B5EF4-FFF2-40B4-BE49-F238E27FC236}">
                <a16:creationId xmlns:a16="http://schemas.microsoft.com/office/drawing/2014/main" id="{409EB2EF-951B-4D24-BF5C-4C4AFDABC003}"/>
              </a:ext>
            </a:extLst>
          </p:cNvPr>
          <p:cNvSpPr>
            <a:spLocks xmlns:a="http://schemas.openxmlformats.org/drawingml/2006/main" noGrp="1"/>
          </p:cNvSpPr>
          <p:nvPr/>
        </p:nvSpPr>
        <p:spPr>
          <a:xfrm xmlns:a="http://schemas.openxmlformats.org/drawingml/2006/main">
            <a:off x="647700" y="4914900"/>
            <a:ext cx="2286000" cy="47625"/>
          </a:xfrm>
          <a:prstGeom xmlns:a="http://schemas.openxmlformats.org/drawingml/2006/main" prst="rect">
            <a:avLst/>
          </a:prstGeom>
          <a:solidFill xmlns:a="http://schemas.openxmlformats.org/drawingml/2006/main">
            <a:srgbClr val="62B6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A1385B4-A9CB-4AF5-BDC4-9B2928880FA6}"/>
              </a:ext>
            </a:extLst>
          </p:cNvPr>
          <p:cNvSpPr>
            <a:spLocks xmlns:a="http://schemas.openxmlformats.org/drawingml/2006/main" noGrp="1"/>
          </p:cNvSpPr>
          <p:nvPr/>
        </p:nvSpPr>
        <p:spPr>
          <a:xfrm xmlns:a="http://schemas.openxmlformats.org/drawingml/2006/main">
            <a:off x="647700" y="5238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FFFFFF"/>
                </a:solidFill>
              </a:defRPr>
            </a:pPr>
            <a:r>
              <a:rPr sz="1500" b="1">
                <a:solidFill>
                  <a:srgbClr val="FFFFFF"/>
                </a:solidFill>
              </a:rPr>
              <a:t>Xin cảm ơn · Thảo luận</a:t>
            </a:r>
          </a:p>
        </p:txBody>
      </p:sp>
      <p:sp>
        <p:nvSpPr>
          <p:cNvPr id="6" name="">
            <a:extLst xmlns:a="http://schemas.openxmlformats.org/drawingml/2006/main">
              <a:ext uri="{FF2B5EF4-FFF2-40B4-BE49-F238E27FC236}">
                <a16:creationId xmlns:a16="http://schemas.microsoft.com/office/drawing/2014/main" id="{E103AD3B-D419-47BB-9CC4-AD7CC734DB58}"/>
              </a:ext>
            </a:extLst>
          </p:cNvPr>
          <p:cNvSpPr>
            <a:spLocks xmlns:a="http://schemas.openxmlformats.org/drawingml/2006/main" noGrp="1"/>
          </p:cNvSpPr>
          <p:nvPr/>
        </p:nvSpPr>
        <p:spPr>
          <a:xfrm xmlns:a="http://schemas.openxmlformats.org/drawingml/2006/main">
            <a:off x="8686800" y="1409700"/>
            <a:ext cx="1924050" cy="1924050"/>
          </a:xfrm>
          <a:prstGeom xmlns:a="http://schemas.openxmlformats.org/drawingml/2006/main" prst="roundRect">
            <a:avLst>
              <a:gd name="adj" fmla="val 3960"/>
            </a:avLst>
          </a:prstGeom>
          <a:solidFill xmlns:a="http://schemas.openxmlformats.org/drawingml/2006/main">
            <a:srgbClr val="62B6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39FA293-2DB3-47FB-80BD-92C1665C4F46}"/>
              </a:ext>
            </a:extLst>
          </p:cNvPr>
          <p:cNvSpPr>
            <a:spLocks xmlns:a="http://schemas.openxmlformats.org/drawingml/2006/main" noGrp="1"/>
          </p:cNvSpPr>
          <p:nvPr/>
        </p:nvSpPr>
        <p:spPr>
          <a:xfrm xmlns:a="http://schemas.openxmlformats.org/drawingml/2006/main">
            <a:off x="8972550" y="1790700"/>
            <a:ext cx="13525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625" b="1">
                <a:solidFill>
                  <a:srgbClr val="0B3558"/>
                </a:solidFill>
              </a:defRPr>
            </a:pPr>
            <a:r>
              <a:rPr sz="2625" b="1">
                <a:solidFill>
                  <a:srgbClr val="0B3558"/>
                </a:solidFill>
              </a:rPr>
              <a:t>HỎI</a:t>
            </a:r>
          </a:p>
          <a:p xmlns:a="http://schemas.openxmlformats.org/drawingml/2006/main">
            <a:pPr algn="ctr">
              <a:buNone/>
              <a:defRPr sz="2625" b="1">
                <a:solidFill>
                  <a:srgbClr val="0B3558"/>
                </a:solidFill>
              </a:defRPr>
            </a:pPr>
            <a:r>
              <a:rPr sz="2625" b="1">
                <a:solidFill>
                  <a:srgbClr val="0B3558"/>
                </a:solidFill>
              </a:rPr>
              <a:t>&amp;</a:t>
            </a:r>
          </a:p>
          <a:p xmlns:a="http://schemas.openxmlformats.org/drawingml/2006/main">
            <a:pPr algn="ctr">
              <a:buNone/>
              <a:defRPr sz="2625" b="1">
                <a:solidFill>
                  <a:srgbClr val="0B3558"/>
                </a:solidFill>
              </a:defRPr>
            </a:pPr>
            <a:r>
              <a:rPr sz="2625" b="1">
                <a:solidFill>
                  <a:srgbClr val="0B3558"/>
                </a:solidFill>
              </a:rPr>
              <a:t>ĐÁP</a:t>
            </a:r>
          </a:p>
        </p:txBody>
      </p:sp>
      <p:sp>
        <p:nvSpPr>
          <p:cNvPr id="9" name="">
            <a:extLst xmlns:a="http://schemas.openxmlformats.org/drawingml/2006/main">
              <a:ext uri="{FF2B5EF4-FFF2-40B4-BE49-F238E27FC236}">
                <a16:creationId xmlns:a16="http://schemas.microsoft.com/office/drawing/2014/main" id="{CCA1C786-A4D8-4DCC-B6B3-A0619D429507}"/>
              </a:ext>
            </a:extLst>
          </p:cNvPr>
          <p:cNvSpPr>
            <a:spLocks xmlns:a="http://schemas.openxmlformats.org/drawingml/2006/main" noGrp="1"/>
          </p:cNvSpPr>
          <p:nvPr/>
        </p:nvSpPr>
        <p:spPr>
          <a:xfrm xmlns:a="http://schemas.openxmlformats.org/drawingml/2006/main">
            <a:off x="10134600" y="5105400"/>
            <a:ext cx="95250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0">
            <a:no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4c0328ec380428e"/>
          <a:stretch xmlns:a="http://schemas.openxmlformats.org/drawingml/2006/main"/>
        </p:blipFill>
        <p:spPr>
          <a:xfrm xmlns:a="http://schemas.openxmlformats.org/drawingml/2006/main">
            <a:off x="10234747" y="5181600"/>
            <a:ext cx="752206" cy="685800"/>
          </a:xfrm>
          <a:prstGeom xmlns:a="http://schemas.openxmlformats.org/drawingml/2006/main" prst="rect">
            <a:avLst/>
          </a:prstGeom>
        </p:spPr>
      </p:pic>
    </p:spTree>
    <p:extLst>
      <p:ext uri="{BB962C8B-B14F-4D97-AF65-F5344CB8AC3E}">
        <p14:creationId xmlns:p14="http://schemas.microsoft.com/office/powerpoint/2010/main" val="7746220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2026-08-24T12:49:14.3530000Z</dcterms:created>
  <dcterms:modified xsi:type="dcterms:W3CDTF">2026-08-24T12:49:14.3530000Z</dcterms:modified>
</coreProperties>
</file>